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sv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sv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sv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sv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sv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sv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sv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sv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sv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sv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sv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4802609"/>
            <a:ext cx="60690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 | Continued Platform Development</a:t>
            </a:r>
            <a:endParaRPr lang="en-US" sz="1080" dirty="0"/>
          </a:p>
        </p:txBody>
      </p:sp>
      <p:sp>
        <p:nvSpPr>
          <p:cNvPr id="6" name="Text 1"/>
          <p:cNvSpPr/>
          <p:nvPr/>
        </p:nvSpPr>
        <p:spPr>
          <a:xfrm>
            <a:off x="8277076" y="4802609"/>
            <a:ext cx="5897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16</a:t>
            </a:r>
            <a:endParaRPr lang="en-US" sz="108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33" y="488603"/>
            <a:ext cx="2105025" cy="5143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57200" y="1279178"/>
            <a:ext cx="313400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HOOKAH PLATFORM</a:t>
            </a:r>
            <a:endParaRPr lang="en-US" sz="1080" dirty="0"/>
          </a:p>
        </p:txBody>
      </p:sp>
      <p:sp>
        <p:nvSpPr>
          <p:cNvPr id="10" name="Text 3"/>
          <p:cNvSpPr/>
          <p:nvPr/>
        </p:nvSpPr>
        <p:spPr>
          <a:xfrm>
            <a:off x="457200" y="1659136"/>
            <a:ext cx="611548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40" b="1" spc="-126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</a:t>
            </a:r>
            <a:endParaRPr lang="en-US" sz="5040" dirty="0"/>
          </a:p>
        </p:txBody>
      </p:sp>
      <p:sp>
        <p:nvSpPr>
          <p:cNvPr id="11" name="Text 4"/>
          <p:cNvSpPr/>
          <p:nvPr/>
        </p:nvSpPr>
        <p:spPr>
          <a:xfrm>
            <a:off x="457200" y="2697361"/>
            <a:ext cx="6999960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Social Platform for Hookah Culture, Creators,</a:t>
            </a:r>
            <a:endParaRPr lang="en-US" sz="18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Businesses, Meetups, and Local Communities</a:t>
            </a:r>
            <a:endParaRPr lang="en-US" sz="1800" dirty="0"/>
          </a:p>
        </p:txBody>
      </p:sp>
      <p:sp>
        <p:nvSpPr>
          <p:cNvPr id="12" name="Shape 5"/>
          <p:cNvSpPr/>
          <p:nvPr/>
        </p:nvSpPr>
        <p:spPr>
          <a:xfrm>
            <a:off x="456233" y="3569829"/>
            <a:ext cx="733425" cy="2381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3" name="Shape 6"/>
          <p:cNvSpPr/>
          <p:nvPr/>
        </p:nvSpPr>
        <p:spPr>
          <a:xfrm>
            <a:off x="1279103" y="3569829"/>
            <a:ext cx="733425" cy="23812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4" name="Shape 7"/>
          <p:cNvSpPr/>
          <p:nvPr/>
        </p:nvSpPr>
        <p:spPr>
          <a:xfrm>
            <a:off x="2101974" y="3569829"/>
            <a:ext cx="733425" cy="23812"/>
          </a:xfrm>
          <a:prstGeom prst="rect">
            <a:avLst/>
          </a:prstGeom>
          <a:solidFill>
            <a:srgbClr val="D6B56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537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57976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Is Building the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884113"/>
            <a:ext cx="58105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Hub for Hookah Culture</a:t>
            </a:r>
            <a:endParaRPr lang="en-US" sz="2520" dirty="0"/>
          </a:p>
        </p:txBody>
      </p:sp>
      <p:sp>
        <p:nvSpPr>
          <p:cNvPr id="6" name="Text 3"/>
          <p:cNvSpPr/>
          <p:nvPr/>
        </p:nvSpPr>
        <p:spPr>
          <a:xfrm>
            <a:off x="457200" y="1481584"/>
            <a:ext cx="9912556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combines a free social network, creator monetization tools, local 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business pages, groups, meetups, events, and premium content into one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built around hookah culture and social connection.</a:t>
            </a:r>
            <a:endParaRPr lang="en-US" sz="1440" dirty="0"/>
          </a:p>
        </p:txBody>
      </p:sp>
      <p:sp>
        <p:nvSpPr>
          <p:cNvPr id="7" name="Shape 4"/>
          <p:cNvSpPr/>
          <p:nvPr/>
        </p:nvSpPr>
        <p:spPr>
          <a:xfrm>
            <a:off x="457126" y="2465003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104" y="2664991"/>
            <a:ext cx="119131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660" dirty="0"/>
          </a:p>
        </p:txBody>
      </p:sp>
      <p:sp>
        <p:nvSpPr>
          <p:cNvPr id="9" name="Text 6"/>
          <p:cNvSpPr/>
          <p:nvPr/>
        </p:nvSpPr>
        <p:spPr>
          <a:xfrm>
            <a:off x="663104" y="3043982"/>
            <a:ext cx="2823865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member profiles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Lounge social feed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Buddys</a:t>
            </a:r>
            <a:endParaRPr lang="en-US" sz="1440" dirty="0"/>
          </a:p>
        </p:txBody>
      </p:sp>
      <p:sp>
        <p:nvSpPr>
          <p:cNvPr id="10" name="Shape 7"/>
          <p:cNvSpPr/>
          <p:nvPr/>
        </p:nvSpPr>
        <p:spPr>
          <a:xfrm>
            <a:off x="3255169" y="2465003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1147" y="2664991"/>
            <a:ext cx="12386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660" dirty="0"/>
          </a:p>
        </p:txBody>
      </p:sp>
      <p:sp>
        <p:nvSpPr>
          <p:cNvPr id="12" name="Text 9"/>
          <p:cNvSpPr/>
          <p:nvPr/>
        </p:nvSpPr>
        <p:spPr>
          <a:xfrm>
            <a:off x="3461147" y="3043982"/>
            <a:ext cx="2543711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Sparks short videos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· Meetups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6053212" y="2465003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9190" y="2664991"/>
            <a:ext cx="6654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</a:t>
            </a:r>
            <a:endParaRPr lang="en-US" sz="1660" dirty="0"/>
          </a:p>
        </p:txBody>
      </p:sp>
      <p:sp>
        <p:nvSpPr>
          <p:cNvPr id="15" name="Text 12"/>
          <p:cNvSpPr/>
          <p:nvPr/>
        </p:nvSpPr>
        <p:spPr>
          <a:xfrm>
            <a:off x="6259190" y="3043982"/>
            <a:ext cx="2429269" cy="127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Pages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Lounges · Creative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 monetization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and premium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249245" y="4802609"/>
            <a:ext cx="6259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16</a:t>
            </a:r>
            <a:endParaRPr lang="en-US" sz="108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60689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626736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 Culture Is Social, But the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884113"/>
            <a:ext cx="63763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Experience Is Fragmented</a:t>
            </a:r>
            <a:endParaRPr lang="en-US" sz="2520" dirty="0"/>
          </a:p>
        </p:txBody>
      </p:sp>
      <p:sp>
        <p:nvSpPr>
          <p:cNvPr id="6" name="Shape 3"/>
          <p:cNvSpPr/>
          <p:nvPr/>
        </p:nvSpPr>
        <p:spPr>
          <a:xfrm>
            <a:off x="456530" y="1463539"/>
            <a:ext cx="4033837" cy="1295400"/>
          </a:xfrm>
          <a:prstGeom prst="roundRect">
            <a:avLst>
              <a:gd name="adj" fmla="val 494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104" y="1663675"/>
            <a:ext cx="31526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 communities</a:t>
            </a:r>
            <a:endParaRPr lang="en-US" sz="1660" dirty="0"/>
          </a:p>
        </p:txBody>
      </p:sp>
      <p:sp>
        <p:nvSpPr>
          <p:cNvPr id="8" name="Text 5"/>
          <p:cNvSpPr/>
          <p:nvPr/>
        </p:nvSpPr>
        <p:spPr>
          <a:xfrm>
            <a:off x="663104" y="2042666"/>
            <a:ext cx="4635676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 enthusiasts are scattered across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social media platforms.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4653595" y="1463539"/>
            <a:ext cx="4033837" cy="1295400"/>
          </a:xfrm>
          <a:prstGeom prst="roundRect">
            <a:avLst>
              <a:gd name="adj" fmla="val 494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60131" y="1663675"/>
            <a:ext cx="31037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discovery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4860131" y="2042666"/>
            <a:ext cx="4202289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lounge discovery is limited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inconsistent.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456530" y="2924733"/>
            <a:ext cx="4033837" cy="1562100"/>
          </a:xfrm>
          <a:prstGeom prst="roundRect">
            <a:avLst>
              <a:gd name="adj" fmla="val 4098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3104" y="3125614"/>
            <a:ext cx="24229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creator fit</a:t>
            </a:r>
            <a:endParaRPr lang="en-US" sz="1660" dirty="0"/>
          </a:p>
        </p:txBody>
      </p:sp>
      <p:sp>
        <p:nvSpPr>
          <p:cNvPr id="14" name="Text 11"/>
          <p:cNvSpPr/>
          <p:nvPr/>
        </p:nvSpPr>
        <p:spPr>
          <a:xfrm>
            <a:off x="663104" y="3504605"/>
            <a:ext cx="4514463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Creators lack a niche platform built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around their audience and monetization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needs.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4653595" y="2924733"/>
            <a:ext cx="4033837" cy="1562100"/>
          </a:xfrm>
          <a:prstGeom prst="roundRect">
            <a:avLst>
              <a:gd name="adj" fmla="val 4098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60131" y="3125614"/>
            <a:ext cx="36771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Disconnected local activity</a:t>
            </a:r>
            <a:endParaRPr lang="en-US" sz="1660" dirty="0"/>
          </a:p>
        </p:txBody>
      </p:sp>
      <p:sp>
        <p:nvSpPr>
          <p:cNvPr id="17" name="Text 14"/>
          <p:cNvSpPr/>
          <p:nvPr/>
        </p:nvSpPr>
        <p:spPr>
          <a:xfrm>
            <a:off x="4860131" y="3504605"/>
            <a:ext cx="4389961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 need better promotion.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 events are difficult to organize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discover in one place.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248129" y="4802609"/>
            <a:ext cx="62742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16</a:t>
            </a:r>
            <a:endParaRPr lang="en-US" sz="108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70083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1032766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Brings the Entire Ecosystem Together</a:t>
            </a:r>
            <a:endParaRPr lang="en-US" sz="2520" dirty="0"/>
          </a:p>
        </p:txBody>
      </p:sp>
      <p:sp>
        <p:nvSpPr>
          <p:cNvPr id="5" name="Shape 2"/>
          <p:cNvSpPr/>
          <p:nvPr/>
        </p:nvSpPr>
        <p:spPr>
          <a:xfrm>
            <a:off x="457126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104" y="1305223"/>
            <a:ext cx="208362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Network</a:t>
            </a:r>
            <a:endParaRPr lang="en-US" sz="1660" dirty="0"/>
          </a:p>
        </p:txBody>
      </p:sp>
      <p:sp>
        <p:nvSpPr>
          <p:cNvPr id="7" name="Text 4"/>
          <p:cNvSpPr/>
          <p:nvPr/>
        </p:nvSpPr>
        <p:spPr>
          <a:xfrm>
            <a:off x="663104" y="1684213"/>
            <a:ext cx="2279035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profiles, posts,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photos, Sparks,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comments, shares,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friends, follows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3255169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61147" y="1305223"/>
            <a:ext cx="22640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Platform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3461147" y="1684213"/>
            <a:ext cx="2937532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 profiles,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albums, custom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messages, video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053212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9190" y="1305223"/>
            <a:ext cx="219081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Discovery</a:t>
            </a:r>
            <a:endParaRPr lang="en-US" sz="1660" dirty="0"/>
          </a:p>
        </p:txBody>
      </p:sp>
      <p:sp>
        <p:nvSpPr>
          <p:cNvPr id="13" name="Text 10"/>
          <p:cNvSpPr/>
          <p:nvPr/>
        </p:nvSpPr>
        <p:spPr>
          <a:xfrm>
            <a:off x="6259190" y="1684213"/>
            <a:ext cx="2649929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Lounges,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pages, 25-mile 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Spotlight, events near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456530" y="3035759"/>
            <a:ext cx="4033837" cy="1295400"/>
          </a:xfrm>
          <a:prstGeom prst="roundRect">
            <a:avLst>
              <a:gd name="adj" fmla="val 494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104" y="3235896"/>
            <a:ext cx="28372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and Meetups</a:t>
            </a:r>
            <a:endParaRPr lang="en-US" sz="1660" dirty="0"/>
          </a:p>
        </p:txBody>
      </p:sp>
      <p:sp>
        <p:nvSpPr>
          <p:cNvPr id="16" name="Text 13"/>
          <p:cNvSpPr/>
          <p:nvPr/>
        </p:nvSpPr>
        <p:spPr>
          <a:xfrm>
            <a:off x="663104" y="3614886"/>
            <a:ext cx="3765032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Member-created groups, hookah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meetups, event planning, RSVPs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4653595" y="3035759"/>
            <a:ext cx="4033837" cy="1295400"/>
          </a:xfrm>
          <a:prstGeom prst="roundRect">
            <a:avLst>
              <a:gd name="adj" fmla="val 494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0131" y="3235896"/>
            <a:ext cx="262129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Monetization Layer</a:t>
            </a:r>
            <a:endParaRPr lang="en-US" sz="1660" dirty="0"/>
          </a:p>
        </p:txBody>
      </p:sp>
      <p:sp>
        <p:nvSpPr>
          <p:cNvPr id="19" name="Text 16"/>
          <p:cNvSpPr/>
          <p:nvPr/>
        </p:nvSpPr>
        <p:spPr>
          <a:xfrm>
            <a:off x="4860131" y="3614886"/>
            <a:ext cx="4648059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Credits, subscriptions, unlocks,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promotions, featured placement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8244260" y="4802609"/>
            <a:ext cx="6324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16</a:t>
            </a:r>
            <a:endParaRPr lang="en-US" sz="108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3329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OVERVIEW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446532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 Features</a:t>
            </a:r>
            <a:endParaRPr lang="en-US" sz="2520" dirty="0"/>
          </a:p>
        </p:txBody>
      </p:sp>
      <p:sp>
        <p:nvSpPr>
          <p:cNvPr id="5" name="Shape 2"/>
          <p:cNvSpPr/>
          <p:nvPr/>
        </p:nvSpPr>
        <p:spPr>
          <a:xfrm>
            <a:off x="457126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104" y="1305223"/>
            <a:ext cx="8715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1660" dirty="0"/>
          </a:p>
        </p:txBody>
      </p:sp>
      <p:sp>
        <p:nvSpPr>
          <p:cNvPr id="7" name="Text 4"/>
          <p:cNvSpPr/>
          <p:nvPr/>
        </p:nvSpPr>
        <p:spPr>
          <a:xfrm>
            <a:off x="663104" y="1684213"/>
            <a:ext cx="2890518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Buddy Profiles · The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 Feed · Browse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Buddys · Sparks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3255169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61147" y="1305223"/>
            <a:ext cx="16113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3461147" y="1684213"/>
            <a:ext cx="2917314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· Meetups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· Business Pages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 Spotlight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053212" y="1103598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9190" y="1305223"/>
            <a:ext cx="11843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</a:t>
            </a:r>
            <a:endParaRPr lang="en-US" sz="1660" dirty="0"/>
          </a:p>
        </p:txBody>
      </p:sp>
      <p:sp>
        <p:nvSpPr>
          <p:cNvPr id="13" name="Text 10"/>
          <p:cNvSpPr/>
          <p:nvPr/>
        </p:nvSpPr>
        <p:spPr>
          <a:xfrm>
            <a:off x="6259190" y="1684213"/>
            <a:ext cx="2831410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 Profiles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Albums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Photo/Video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57200" y="3105224"/>
            <a:ext cx="8589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7141741" y="3105224"/>
            <a:ext cx="20657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Dashboard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57200" y="3576117"/>
            <a:ext cx="10378060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is designed as a social platform first, with optional premium features layered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the experience.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251478" y="4802609"/>
            <a:ext cx="6230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16</a:t>
            </a:r>
            <a:endParaRPr lang="en-US" sz="108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4187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TYPES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548687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Members, Creators,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884113"/>
            <a:ext cx="698535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Businesses, and Local Communities</a:t>
            </a:r>
            <a:endParaRPr lang="en-US" sz="2520" dirty="0"/>
          </a:p>
        </p:txBody>
      </p:sp>
      <p:sp>
        <p:nvSpPr>
          <p:cNvPr id="6" name="Shape 3"/>
          <p:cNvSpPr/>
          <p:nvPr/>
        </p:nvSpPr>
        <p:spPr>
          <a:xfrm>
            <a:off x="457386" y="1461455"/>
            <a:ext cx="1933575" cy="2890837"/>
          </a:xfrm>
          <a:prstGeom prst="roundRect">
            <a:avLst>
              <a:gd name="adj" fmla="val 331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104" y="1663675"/>
            <a:ext cx="16354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Buddy</a:t>
            </a:r>
            <a:endParaRPr lang="en-US" sz="1660" dirty="0"/>
          </a:p>
        </p:txBody>
      </p:sp>
      <p:sp>
        <p:nvSpPr>
          <p:cNvPr id="8" name="Text 5"/>
          <p:cNvSpPr/>
          <p:nvPr/>
        </p:nvSpPr>
        <p:spPr>
          <a:xfrm>
            <a:off x="663104" y="2042666"/>
            <a:ext cx="2009715" cy="154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feed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Buddys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• Groups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Meetups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2555900" y="1461455"/>
            <a:ext cx="1933575" cy="2890837"/>
          </a:xfrm>
          <a:prstGeom prst="roundRect">
            <a:avLst>
              <a:gd name="adj" fmla="val 331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61580" y="1663675"/>
            <a:ext cx="1945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Buddy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2761580" y="2042666"/>
            <a:ext cx="1851935" cy="207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presence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Optional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monetization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4654451" y="1461455"/>
            <a:ext cx="1933575" cy="2890837"/>
          </a:xfrm>
          <a:prstGeom prst="roundRect">
            <a:avLst>
              <a:gd name="adj" fmla="val 331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0131" y="1663675"/>
            <a:ext cx="11843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</a:t>
            </a:r>
            <a:endParaRPr lang="en-US" sz="1660" dirty="0"/>
          </a:p>
        </p:txBody>
      </p:sp>
      <p:sp>
        <p:nvSpPr>
          <p:cNvPr id="14" name="Text 11"/>
          <p:cNvSpPr/>
          <p:nvPr/>
        </p:nvSpPr>
        <p:spPr>
          <a:xfrm>
            <a:off x="4860131" y="1916013"/>
            <a:ext cx="9203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</a:t>
            </a:r>
            <a:endParaRPr lang="en-US" sz="1660" dirty="0"/>
          </a:p>
        </p:txBody>
      </p:sp>
      <p:sp>
        <p:nvSpPr>
          <p:cNvPr id="15" name="Text 12"/>
          <p:cNvSpPr/>
          <p:nvPr/>
        </p:nvSpPr>
        <p:spPr>
          <a:xfrm>
            <a:off x="4860131" y="2295004"/>
            <a:ext cx="1965409" cy="181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content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pricing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Private media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sessions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6753002" y="1461455"/>
            <a:ext cx="1933575" cy="2890837"/>
          </a:xfrm>
          <a:prstGeom prst="roundRect">
            <a:avLst>
              <a:gd name="adj" fmla="val 331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58682" y="1663675"/>
            <a:ext cx="15907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</a:t>
            </a:r>
            <a:endParaRPr lang="en-US" sz="1660" dirty="0"/>
          </a:p>
        </p:txBody>
      </p:sp>
      <p:sp>
        <p:nvSpPr>
          <p:cNvPr id="18" name="Text 15"/>
          <p:cNvSpPr/>
          <p:nvPr/>
        </p:nvSpPr>
        <p:spPr>
          <a:xfrm>
            <a:off x="6958682" y="2042666"/>
            <a:ext cx="2028676" cy="181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Pages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•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and events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Spotlight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Promotions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247831" y="4802609"/>
            <a:ext cx="6278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16</a:t>
            </a:r>
            <a:endParaRPr lang="en-US" sz="108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8185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MONETIZATION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872693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Buddys Can Earn Inside the Platform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80281"/>
            <a:ext cx="2622939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$24.99</a:t>
            </a:r>
            <a:endParaRPr lang="en-US" sz="4320" dirty="0"/>
          </a:p>
        </p:txBody>
      </p:sp>
      <p:sp>
        <p:nvSpPr>
          <p:cNvPr id="6" name="Text 3"/>
          <p:cNvSpPr/>
          <p:nvPr/>
        </p:nvSpPr>
        <p:spPr>
          <a:xfrm>
            <a:off x="2430884" y="1537469"/>
            <a:ext cx="9133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/month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457200" y="1936552"/>
            <a:ext cx="381872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 upgrade — proposed pricing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457200" y="2292325"/>
            <a:ext cx="5134265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content sales · Custom Photo/Video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· Private messages including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photos/videos · Video session tools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457200" y="3232696"/>
            <a:ext cx="5072256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dashboard · Earnings tracking · Dedicated support ·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tools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709629" y="1104714"/>
            <a:ext cx="3976687" cy="3352800"/>
          </a:xfrm>
          <a:prstGeom prst="roundRect">
            <a:avLst>
              <a:gd name="adj" fmla="val 1909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5049" y="1305223"/>
            <a:ext cx="18185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Album model</a:t>
            </a:r>
            <a:endParaRPr lang="en-US" sz="1660" dirty="0"/>
          </a:p>
        </p:txBody>
      </p:sp>
      <p:sp>
        <p:nvSpPr>
          <p:cNvPr id="12" name="Text 9"/>
          <p:cNvSpPr/>
          <p:nvPr/>
        </p:nvSpPr>
        <p:spPr>
          <a:xfrm>
            <a:off x="4915049" y="1760934"/>
            <a:ext cx="13359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Album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7270552" y="1760934"/>
            <a:ext cx="16305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free images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915049" y="2183978"/>
            <a:ext cx="135615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Album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7589416" y="2183978"/>
            <a:ext cx="12160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credits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915049" y="2607022"/>
            <a:ext cx="21352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Smokin Hot Album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7492901" y="2607022"/>
            <a:ext cx="13415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credits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4915049" y="3056186"/>
            <a:ext cx="46565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Smokin Hot includes Cool Album access.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4915049" y="3475658"/>
            <a:ext cx="4371290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→ credits held → creator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→ delivery → credits released.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requires mutual agreement.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8257952" y="4802609"/>
            <a:ext cx="6146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16</a:t>
            </a:r>
            <a:endParaRPr lang="en-US" sz="108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4416" y="1664754"/>
            <a:ext cx="3567113" cy="42386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4416" y="2087798"/>
            <a:ext cx="3567113" cy="42386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4416" y="2510842"/>
            <a:ext cx="3567113" cy="423862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0519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ECONOMY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695449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Power Premium Interactions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70756"/>
            <a:ext cx="444906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credit = $0.10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850827"/>
            <a:ext cx="41422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reference value; bundle bonuses vary.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457200" y="2258020"/>
            <a:ext cx="5096054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messages · Premium content unlocks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Custom photo/video requests · Video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· Album unlocks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457200" y="3249811"/>
            <a:ext cx="5118400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create a flexible microtransaction system that allows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to start free and pay only for premium access.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753905" y="1104454"/>
            <a:ext cx="3933825" cy="3514725"/>
          </a:xfrm>
          <a:prstGeom prst="roundRect">
            <a:avLst>
              <a:gd name="adj" fmla="val 182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60739" y="1305223"/>
            <a:ext cx="34799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credit bundles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4960739" y="1760934"/>
            <a:ext cx="114584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Pack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7552804" y="1760934"/>
            <a:ext cx="12636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$4.99 / 50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960739" y="2183978"/>
            <a:ext cx="143712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 Pack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7512993" y="2183978"/>
            <a:ext cx="131542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$9.99 / 110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960739" y="2607022"/>
            <a:ext cx="135499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Pack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7355830" y="2607022"/>
            <a:ext cx="151973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$19.99 / 240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960739" y="3030066"/>
            <a:ext cx="153521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Popular Pack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7323683" y="3030066"/>
            <a:ext cx="15615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$39.99 / 520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4960739" y="3453110"/>
            <a:ext cx="10551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Pack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7240637" y="3453110"/>
            <a:ext cx="166948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$79.99 / 1,100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4960739" y="3902273"/>
            <a:ext cx="4545613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from brief; differs from current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configuration.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8247980" y="4802609"/>
            <a:ext cx="6276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16</a:t>
            </a:r>
            <a:endParaRPr lang="en-US" sz="108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074" y="1664754"/>
            <a:ext cx="3519487" cy="42386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074" y="2087798"/>
            <a:ext cx="3519487" cy="42386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074" y="2510842"/>
            <a:ext cx="3519487" cy="423862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074" y="2933886"/>
            <a:ext cx="3519487" cy="423862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074" y="3356930"/>
            <a:ext cx="3519487" cy="423862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34578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MEMBERSHIP MODEL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69514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to Join, Optional Paid Upgrades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23131"/>
            <a:ext cx="88358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Free Profile → Male Buddy or Female Buddy → free or optional upgrade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456530" y="1523926"/>
            <a:ext cx="4033837" cy="2562225"/>
          </a:xfrm>
          <a:prstGeom prst="roundRect">
            <a:avLst>
              <a:gd name="adj" fmla="val 2498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104" y="1724695"/>
            <a:ext cx="27052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Buddy options</a:t>
            </a:r>
            <a:endParaRPr lang="en-US" sz="1660" dirty="0"/>
          </a:p>
        </p:txBody>
      </p:sp>
      <p:sp>
        <p:nvSpPr>
          <p:cNvPr id="8" name="Text 5"/>
          <p:cNvSpPr/>
          <p:nvPr/>
        </p:nvSpPr>
        <p:spPr>
          <a:xfrm>
            <a:off x="663104" y="2180406"/>
            <a:ext cx="13416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3395737" y="2180406"/>
            <a:ext cx="121162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$0/month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663104" y="2603450"/>
            <a:ext cx="6829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2700263" y="2603450"/>
            <a:ext cx="21157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$9.99 • 75 credits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663104" y="3026494"/>
            <a:ext cx="58011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542580" y="3026494"/>
            <a:ext cx="232072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$19.99 • 175 credits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663104" y="3449538"/>
            <a:ext cx="10245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Platinum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2430289" y="3449538"/>
            <a:ext cx="246670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$39.99 • 400 credits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4653595" y="1523926"/>
            <a:ext cx="4033837" cy="2562225"/>
          </a:xfrm>
          <a:prstGeom prst="roundRect">
            <a:avLst>
              <a:gd name="adj" fmla="val 2498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0131" y="1724695"/>
            <a:ext cx="30155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Buddy options</a:t>
            </a:r>
            <a:endParaRPr lang="en-US" sz="1660" dirty="0"/>
          </a:p>
        </p:txBody>
      </p:sp>
      <p:sp>
        <p:nvSpPr>
          <p:cNvPr id="18" name="Text 15"/>
          <p:cNvSpPr/>
          <p:nvPr/>
        </p:nvSpPr>
        <p:spPr>
          <a:xfrm>
            <a:off x="4860131" y="2180406"/>
            <a:ext cx="13416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7592839" y="2180406"/>
            <a:ext cx="121162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$0/month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4860131" y="2603450"/>
            <a:ext cx="17822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7190110" y="2603450"/>
            <a:ext cx="17351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$24.99/month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4860131" y="3104034"/>
            <a:ext cx="4585275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free social network drives adoption,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optional premium upgrades drive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revenue.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457200" y="4198888"/>
            <a:ext cx="858317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monthly pricing and credits from brief; reconcile with live plans before investor distribution.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8247831" y="4802609"/>
            <a:ext cx="6278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16</a:t>
            </a:r>
            <a:endParaRPr lang="en-US" sz="108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699" y="2084226"/>
            <a:ext cx="3619500" cy="423862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699" y="2507270"/>
            <a:ext cx="3619500" cy="423862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699" y="2930314"/>
            <a:ext cx="3619500" cy="423862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699" y="3353358"/>
            <a:ext cx="3619500" cy="423862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60764" y="2084226"/>
            <a:ext cx="3619500" cy="423862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60764" y="2507270"/>
            <a:ext cx="3619500" cy="423862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9062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MONETIZATION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84877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Businesses Create Another Revenue Engine</a:t>
            </a:r>
            <a:endParaRPr lang="en-US" sz="2520" dirty="0"/>
          </a:p>
        </p:txBody>
      </p:sp>
      <p:sp>
        <p:nvSpPr>
          <p:cNvPr id="5" name="Shape 2"/>
          <p:cNvSpPr/>
          <p:nvPr/>
        </p:nvSpPr>
        <p:spPr>
          <a:xfrm>
            <a:off x="457126" y="1103747"/>
            <a:ext cx="2633662" cy="2624138"/>
          </a:xfrm>
          <a:prstGeom prst="roundRect">
            <a:avLst>
              <a:gd name="adj" fmla="val 2439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104" y="1305223"/>
            <a:ext cx="21605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Pages</a:t>
            </a:r>
            <a:endParaRPr lang="en-US" sz="1660" dirty="0"/>
          </a:p>
        </p:txBody>
      </p:sp>
      <p:sp>
        <p:nvSpPr>
          <p:cNvPr id="7" name="Text 4"/>
          <p:cNvSpPr/>
          <p:nvPr/>
        </p:nvSpPr>
        <p:spPr>
          <a:xfrm>
            <a:off x="663104" y="1684213"/>
            <a:ext cx="2872427" cy="154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· Posts · Photos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Sparks · Services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Products/catalog · Offers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Events · Reviews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Check-ins · Messaging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3255169" y="1103747"/>
            <a:ext cx="2633662" cy="2624138"/>
          </a:xfrm>
          <a:prstGeom prst="roundRect">
            <a:avLst>
              <a:gd name="adj" fmla="val 2439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61147" y="1305223"/>
            <a:ext cx="23311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 Spotlight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3461147" y="1684213"/>
            <a:ext cx="2917798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businesses within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miles · Daily discovery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Traffic to the 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053212" y="1103747"/>
            <a:ext cx="2633662" cy="2624138"/>
          </a:xfrm>
          <a:prstGeom prst="roundRect">
            <a:avLst>
              <a:gd name="adj" fmla="val 2439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9190" y="1305223"/>
            <a:ext cx="238960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revenue</a:t>
            </a:r>
            <a:endParaRPr lang="en-US" sz="1660" dirty="0"/>
          </a:p>
        </p:txBody>
      </p:sp>
      <p:sp>
        <p:nvSpPr>
          <p:cNvPr id="13" name="Text 10"/>
          <p:cNvSpPr/>
          <p:nvPr/>
        </p:nvSpPr>
        <p:spPr>
          <a:xfrm>
            <a:off x="6259190" y="1684213"/>
            <a:ext cx="2494761" cy="181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placement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Sponsored Spotlight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Boosted posts · Event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· Lead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·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Advertising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457200" y="3891335"/>
            <a:ext cx="84182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monetization channels are opportunities, not reported revenue or confirmed partnerships.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77076" y="4802609"/>
            <a:ext cx="58979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108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989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NETWORK EFFECTS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914464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Meetups Turn Online Interest Into Local Activity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23131"/>
            <a:ext cx="10323500" cy="48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 can start a Meetup by creating the full event in one flow: title, date, time, location,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RSVP rules, privacy, and invites.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457126" y="1839702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104" y="2041327"/>
            <a:ext cx="1262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</a:t>
            </a:r>
            <a:endParaRPr lang="en-US" sz="1660" dirty="0"/>
          </a:p>
        </p:txBody>
      </p:sp>
      <p:sp>
        <p:nvSpPr>
          <p:cNvPr id="8" name="Text 5"/>
          <p:cNvSpPr/>
          <p:nvPr/>
        </p:nvSpPr>
        <p:spPr>
          <a:xfrm>
            <a:off x="663104" y="2420317"/>
            <a:ext cx="2620521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 meetups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 nights · Smoke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·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3255169" y="1839702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1147" y="2041327"/>
            <a:ext cx="15092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Participate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3461147" y="2420317"/>
            <a:ext cx="2872427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RSVP tracking · Attendee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· Event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6053212" y="1839702"/>
            <a:ext cx="2633662" cy="1828800"/>
          </a:xfrm>
          <a:prstGeom prst="roundRect">
            <a:avLst>
              <a:gd name="adj" fmla="val 350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9190" y="2041327"/>
            <a:ext cx="9501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endParaRPr lang="en-US" sz="1660" dirty="0"/>
          </a:p>
        </p:txBody>
      </p:sp>
      <p:sp>
        <p:nvSpPr>
          <p:cNvPr id="14" name="Text 11"/>
          <p:cNvSpPr/>
          <p:nvPr/>
        </p:nvSpPr>
        <p:spPr>
          <a:xfrm>
            <a:off x="6259190" y="2420317"/>
            <a:ext cx="2871170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Events page · The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Lounge feed integration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community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57200" y="3892748"/>
            <a:ext cx="79219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support repeat engagement and local community growth.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307809" y="4802609"/>
            <a:ext cx="54983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108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30885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POSITIONING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508454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Combines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884113"/>
            <a:ext cx="629773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Proven Platform Models</a:t>
            </a:r>
            <a:endParaRPr lang="en-US" sz="2520" dirty="0"/>
          </a:p>
        </p:txBody>
      </p:sp>
      <p:sp>
        <p:nvSpPr>
          <p:cNvPr id="6" name="Text 3"/>
          <p:cNvSpPr/>
          <p:nvPr/>
        </p:nvSpPr>
        <p:spPr>
          <a:xfrm>
            <a:off x="457200" y="1476821"/>
            <a:ext cx="16782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Type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2886819" y="1476821"/>
            <a:ext cx="15387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5316513" y="1476821"/>
            <a:ext cx="315828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Advantage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457200" y="1852761"/>
            <a:ext cx="17200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network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2886819" y="1852761"/>
            <a:ext cx="253432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Profiles, feed, friends,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2886819" y="2063055"/>
            <a:ext cx="8425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5316513" y="1852761"/>
            <a:ext cx="39379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Hookah-focused niche community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57200" y="2349996"/>
            <a:ext cx="18984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platform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2886819" y="2349996"/>
            <a:ext cx="20339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content,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2886819" y="2560290"/>
            <a:ext cx="10322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316513" y="2349996"/>
            <a:ext cx="388295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 tools tied to social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5316513" y="2560290"/>
            <a:ext cx="11536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457200" y="2847231"/>
            <a:ext cx="237054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Meetup-style events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2886819" y="2847231"/>
            <a:ext cx="241350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gatherings and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2886819" y="3057525"/>
            <a:ext cx="80387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RSVPs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5316513" y="2847231"/>
            <a:ext cx="383091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Hookah-first meetups and lounge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5316513" y="3057525"/>
            <a:ext cx="7424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nights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457200" y="3344466"/>
            <a:ext cx="214079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directory</a:t>
            </a:r>
            <a:endParaRPr lang="en-US" sz="1440" dirty="0"/>
          </a:p>
        </p:txBody>
      </p:sp>
      <p:sp>
        <p:nvSpPr>
          <p:cNvPr id="24" name="Text 21"/>
          <p:cNvSpPr/>
          <p:nvPr/>
        </p:nvSpPr>
        <p:spPr>
          <a:xfrm>
            <a:off x="2886819" y="3344466"/>
            <a:ext cx="18265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discovery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5316513" y="3344466"/>
            <a:ext cx="382046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Pages, Spotlight, offers,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5316513" y="3554760"/>
            <a:ext cx="8000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1440" dirty="0"/>
          </a:p>
        </p:txBody>
      </p:sp>
      <p:sp>
        <p:nvSpPr>
          <p:cNvPr id="27" name="Text 24"/>
          <p:cNvSpPr/>
          <p:nvPr/>
        </p:nvSpPr>
        <p:spPr>
          <a:xfrm>
            <a:off x="457200" y="3841700"/>
            <a:ext cx="23486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video platform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2886819" y="3841700"/>
            <a:ext cx="19779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Short-form video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5316513" y="3841700"/>
            <a:ext cx="34228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Sparks for culture and creator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5316513" y="4051995"/>
            <a:ext cx="11536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440" dirty="0"/>
          </a:p>
        </p:txBody>
      </p:sp>
      <p:sp>
        <p:nvSpPr>
          <p:cNvPr id="31" name="Text 28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8279978" y="4802609"/>
            <a:ext cx="5860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108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642" y="1817787"/>
            <a:ext cx="2247900" cy="495300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6298" y="1817787"/>
            <a:ext cx="2247900" cy="495300"/>
          </a:xfrm>
          <a:prstGeom prst="rect">
            <a:avLst/>
          </a:prstGeom>
        </p:spPr>
      </p:pic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5731" y="1817787"/>
            <a:ext cx="3371850" cy="495300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6642" y="2315021"/>
            <a:ext cx="2247900" cy="495300"/>
          </a:xfrm>
          <a:prstGeom prst="rect">
            <a:avLst/>
          </a:prstGeom>
        </p:spPr>
      </p:pic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86298" y="2315021"/>
            <a:ext cx="2247900" cy="49530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15731" y="2315021"/>
            <a:ext cx="3371850" cy="495300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6642" y="2812256"/>
            <a:ext cx="2247900" cy="495300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86298" y="2812256"/>
            <a:ext cx="2247900" cy="495300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15731" y="2812256"/>
            <a:ext cx="3371850" cy="495300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642" y="3309491"/>
            <a:ext cx="2247900" cy="495300"/>
          </a:xfrm>
          <a:prstGeom prst="rect">
            <a:avLst/>
          </a:prstGeom>
        </p:spPr>
      </p:pic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86298" y="3309491"/>
            <a:ext cx="2247900" cy="495300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15731" y="3309491"/>
            <a:ext cx="3371850" cy="495300"/>
          </a:xfrm>
          <a:prstGeom prst="rect">
            <a:avLst/>
          </a:prstGeom>
        </p:spPr>
      </p:pic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6642" y="3806726"/>
            <a:ext cx="2247900" cy="495300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86298" y="3806726"/>
            <a:ext cx="2247900" cy="495300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315731" y="3806726"/>
            <a:ext cx="3371850" cy="495300"/>
          </a:xfrm>
          <a:prstGeom prst="rect">
            <a:avLst/>
          </a:prstGeom>
        </p:spPr>
      </p:pic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26018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STATUS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68341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Development Is Underway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37419"/>
            <a:ext cx="442053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31C4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Pre-launch / development-stage</a:t>
            </a:r>
            <a:endParaRPr lang="en-US" sz="2020" dirty="0"/>
          </a:p>
        </p:txBody>
      </p:sp>
      <p:sp>
        <p:nvSpPr>
          <p:cNvPr id="6" name="Text 3"/>
          <p:cNvSpPr/>
          <p:nvPr/>
        </p:nvSpPr>
        <p:spPr>
          <a:xfrm>
            <a:off x="1218977" y="1521470"/>
            <a:ext cx="154363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31C4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platform.</a:t>
            </a:r>
            <a:endParaRPr lang="en-US" sz="2020" dirty="0"/>
          </a:p>
        </p:txBody>
      </p:sp>
      <p:sp>
        <p:nvSpPr>
          <p:cNvPr id="7" name="Text 4"/>
          <p:cNvSpPr/>
          <p:nvPr/>
        </p:nvSpPr>
        <p:spPr>
          <a:xfrm>
            <a:off x="457200" y="2045494"/>
            <a:ext cx="4094232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profiles, The Lounge, Browse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Buddys, Sparks, Groups, Meetups,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Pages, Events, Credits,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tools, and Admin controls.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457200" y="3251076"/>
            <a:ext cx="4324372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and interfaces exist; launch readiness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live payments require validation. No traction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are presented.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3981301"/>
            <a:ext cx="134086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app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4187577"/>
            <a:ext cx="253993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u="sng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hookahdolls.replit.app</a:t>
            </a:r>
            <a:endParaRPr lang="en-US" sz="144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647" y="1104081"/>
            <a:ext cx="4572000" cy="28289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2493" y="4045372"/>
            <a:ext cx="46821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homepage · Current development build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8278862" y="4802609"/>
            <a:ext cx="5874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108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1389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455074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Roadmap</a:t>
            </a:r>
            <a:endParaRPr lang="en-US" sz="2520" dirty="0"/>
          </a:p>
        </p:txBody>
      </p:sp>
      <p:sp>
        <p:nvSpPr>
          <p:cNvPr id="5" name="Shape 2"/>
          <p:cNvSpPr/>
          <p:nvPr/>
        </p:nvSpPr>
        <p:spPr>
          <a:xfrm>
            <a:off x="457126" y="1103709"/>
            <a:ext cx="2633662" cy="2876550"/>
          </a:xfrm>
          <a:prstGeom prst="roundRect">
            <a:avLst>
              <a:gd name="adj" fmla="val 243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3104" y="1305223"/>
            <a:ext cx="283644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MVP Completion</a:t>
            </a:r>
            <a:endParaRPr lang="en-US" sz="1660" dirty="0"/>
          </a:p>
        </p:txBody>
      </p:sp>
      <p:sp>
        <p:nvSpPr>
          <p:cNvPr id="7" name="Text 4"/>
          <p:cNvSpPr/>
          <p:nvPr/>
        </p:nvSpPr>
        <p:spPr>
          <a:xfrm>
            <a:off x="663104" y="1684213"/>
            <a:ext cx="2929600" cy="154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profiles · Buddy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· The 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Browse Buddys · Sparks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Admin dashboard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 and plans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content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3255169" y="1103709"/>
            <a:ext cx="2633662" cy="2876550"/>
          </a:xfrm>
          <a:prstGeom prst="roundRect">
            <a:avLst>
              <a:gd name="adj" fmla="val 243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61147" y="1305223"/>
            <a:ext cx="24063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Monetization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3461147" y="1557561"/>
            <a:ext cx="23837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Local Growth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3461147" y="1936552"/>
            <a:ext cx="2861012" cy="154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Buddy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subscriptions · Albums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requests · Video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·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· Lounge Spotlight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Meetups and Events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6053212" y="1103709"/>
            <a:ext cx="2633662" cy="2876550"/>
          </a:xfrm>
          <a:prstGeom prst="roundRect">
            <a:avLst>
              <a:gd name="adj" fmla="val 2430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9190" y="1305223"/>
            <a:ext cx="19577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Scale and</a:t>
            </a:r>
            <a:endParaRPr lang="en-US" sz="1660" dirty="0"/>
          </a:p>
        </p:txBody>
      </p:sp>
      <p:sp>
        <p:nvSpPr>
          <p:cNvPr id="14" name="Text 11"/>
          <p:cNvSpPr/>
          <p:nvPr/>
        </p:nvSpPr>
        <p:spPr>
          <a:xfrm>
            <a:off x="6259190" y="1557561"/>
            <a:ext cx="1773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Partnerships</a:t>
            </a:r>
            <a:endParaRPr lang="en-US" sz="1660" dirty="0"/>
          </a:p>
        </p:txBody>
      </p:sp>
      <p:sp>
        <p:nvSpPr>
          <p:cNvPr id="15" name="Text 12"/>
          <p:cNvSpPr/>
          <p:nvPr/>
        </p:nvSpPr>
        <p:spPr>
          <a:xfrm>
            <a:off x="6259190" y="1936552"/>
            <a:ext cx="2840310" cy="181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readiness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Advertising · Sponsored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placements · Lounge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partnerships · Analytics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Payment/payout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· Growth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457200" y="4143673"/>
            <a:ext cx="89785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priorities, not dated commitments. Some capabilities already have working implementations.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274993" y="4802609"/>
            <a:ext cx="5925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108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16895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935863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Will Accelerate Continued Development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1156469"/>
            <a:ext cx="526921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288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$6,500 funding target</a:t>
            </a:r>
            <a:endParaRPr lang="en-US" sz="2880" dirty="0"/>
          </a:p>
        </p:txBody>
      </p:sp>
      <p:sp>
        <p:nvSpPr>
          <p:cNvPr id="6" name="Shape 3"/>
          <p:cNvSpPr/>
          <p:nvPr/>
        </p:nvSpPr>
        <p:spPr>
          <a:xfrm>
            <a:off x="457126" y="1808076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3104" y="2008063"/>
            <a:ext cx="7288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660" dirty="0"/>
          </a:p>
        </p:txBody>
      </p:sp>
      <p:sp>
        <p:nvSpPr>
          <p:cNvPr id="8" name="Text 5"/>
          <p:cNvSpPr/>
          <p:nvPr/>
        </p:nvSpPr>
        <p:spPr>
          <a:xfrm>
            <a:off x="663104" y="2387054"/>
            <a:ext cx="2596433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development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design · Mobile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· Creator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3255169" y="1808076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1147" y="2008063"/>
            <a:ext cx="10301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E85D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3461147" y="2387054"/>
            <a:ext cx="2838472" cy="101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Payment/credit system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infrastructure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Admin/moderation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and compliance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6053212" y="1808076"/>
            <a:ext cx="2633662" cy="2090737"/>
          </a:xfrm>
          <a:prstGeom prst="roundRect">
            <a:avLst>
              <a:gd name="adj" fmla="val 3062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9190" y="2008063"/>
            <a:ext cx="104194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660" b="1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660" dirty="0"/>
          </a:p>
        </p:txBody>
      </p:sp>
      <p:sp>
        <p:nvSpPr>
          <p:cNvPr id="14" name="Text 11"/>
          <p:cNvSpPr/>
          <p:nvPr/>
        </p:nvSpPr>
        <p:spPr>
          <a:xfrm>
            <a:off x="6259190" y="2387054"/>
            <a:ext cx="2637063" cy="127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and user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acquisition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Business/lounges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· Legal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setup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57200" y="4063752"/>
            <a:ext cx="10610523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funding will be used to complete the MVP, harden the platform, support launch, onboard early users and businesses,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accelerate monetization features.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282211" y="4802609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108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0478"/>
            <a:ext cx="313903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080" spc="162" kern="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OPPORTUNITY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457200" y="525661"/>
            <a:ext cx="559522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to Help Build the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457200" y="884113"/>
            <a:ext cx="665692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88" kern="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Platform for Hookah Culture</a:t>
            </a:r>
            <a:endParaRPr lang="en-US" sz="2520" dirty="0"/>
          </a:p>
        </p:txBody>
      </p:sp>
      <p:sp>
        <p:nvSpPr>
          <p:cNvPr id="6" name="Text 3"/>
          <p:cNvSpPr/>
          <p:nvPr/>
        </p:nvSpPr>
        <p:spPr>
          <a:xfrm>
            <a:off x="457200" y="1476821"/>
            <a:ext cx="4580632" cy="117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73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Seeking strategic investors to</a:t>
            </a:r>
            <a:endParaRPr lang="en-US" sz="173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73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fund continued</a:t>
            </a:r>
            <a:endParaRPr lang="en-US" sz="173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73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development, launch preparation,</a:t>
            </a:r>
            <a:endParaRPr lang="en-US" sz="173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730" dirty="0">
                <a:solidFill>
                  <a:srgbClr val="D6B5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early growth.</a:t>
            </a:r>
            <a:endParaRPr lang="en-US" sz="1730" dirty="0"/>
          </a:p>
        </p:txBody>
      </p:sp>
      <p:sp>
        <p:nvSpPr>
          <p:cNvPr id="7" name="Text 4"/>
          <p:cNvSpPr/>
          <p:nvPr/>
        </p:nvSpPr>
        <p:spPr>
          <a:xfrm>
            <a:off x="457200" y="2842543"/>
            <a:ext cx="4513883" cy="7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social adoption · Premium access ·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tools · Local business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 · Real-world engagement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4267163" y="1461827"/>
            <a:ext cx="4419600" cy="2414588"/>
          </a:xfrm>
          <a:prstGeom prst="roundRect">
            <a:avLst>
              <a:gd name="adj" fmla="val 2651"/>
            </a:avLst>
          </a:prstGeom>
          <a:solidFill>
            <a:srgbClr val="1F232B"/>
          </a:solidFill>
          <a:ln w="4763">
            <a:solidFill>
              <a:srgbClr val="343A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73029" y="1677963"/>
            <a:ext cx="75327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473029" y="1879476"/>
            <a:ext cx="33618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 Halbert &amp; William Jepson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473029" y="2186583"/>
            <a:ext cx="5069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4473029" y="2392859"/>
            <a:ext cx="321207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u="sng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coolshirtsclublv@gmail.com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473029" y="2704356"/>
            <a:ext cx="5926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473029" y="2905869"/>
            <a:ext cx="18077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(702) 328-9219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4473029" y="3212976"/>
            <a:ext cx="113597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Website/App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473029" y="3419252"/>
            <a:ext cx="253993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u="sng" dirty="0">
                <a:solidFill>
                  <a:srgbClr val="5E9F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hookahdolls.replit.app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57200" y="4039493"/>
            <a:ext cx="10387734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is for discussion purposes only and does not constitute an offer to sell securities. Financial projections, if</a:t>
            </a:r>
            <a:endParaRPr lang="en-US" sz="108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added, should be reviewed with legal and financial advisors.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57200" y="4802609"/>
            <a:ext cx="31236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HookahBuddys · Investor Pitch Deck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278564" y="4802609"/>
            <a:ext cx="58785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C7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16</a:t>
            </a:r>
            <a:endParaRPr lang="en-US" sz="108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02597"/>
            <a:ext cx="8229600" cy="28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2026-09-24T06:06:23Z</dcterms:created>
  <dcterms:modified xsi:type="dcterms:W3CDTF">2026-09-24T06:06:23Z</dcterms:modified>
</cp:coreProperties>
</file>