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image" Target="../media/image-8-6.png"/><Relationship Id="rId7" Type="http://schemas.openxmlformats.org/officeDocument/2006/relationships/image" Target="../media/image-8-7.svg"/><Relationship Id="rId8" Type="http://schemas.openxmlformats.org/officeDocument/2006/relationships/image" Target="../media/image-8-8.png"/><Relationship Id="rId9" Type="http://schemas.openxmlformats.org/officeDocument/2006/relationships/image" Target="../media/image-8-9.svg"/><Relationship Id="rId10" Type="http://schemas.openxmlformats.org/officeDocument/2006/relationships/image" Target="../media/image-8-10.png"/><Relationship Id="rId11" Type="http://schemas.openxmlformats.org/officeDocument/2006/relationships/image" Target="../media/image-8-11.svg"/><Relationship Id="rId12" Type="http://schemas.openxmlformats.org/officeDocument/2006/relationships/image" Target="../media/image-8-12.png"/><Relationship Id="rId13" Type="http://schemas.openxmlformats.org/officeDocument/2006/relationships/image" Target="../media/image-8-13.sv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6.png"/><Relationship Id="rId7" Type="http://schemas.openxmlformats.org/officeDocument/2006/relationships/image" Target="../media/image-9-7.svg"/><Relationship Id="rId8" Type="http://schemas.openxmlformats.org/officeDocument/2006/relationships/image" Target="../media/image-9-8.png"/><Relationship Id="rId9" Type="http://schemas.openxmlformats.org/officeDocument/2006/relationships/image" Target="../media/image-9-9.svg"/><Relationship Id="rId10" Type="http://schemas.openxmlformats.org/officeDocument/2006/relationships/image" Target="../media/image-9-10.png"/><Relationship Id="rId11" Type="http://schemas.openxmlformats.org/officeDocument/2006/relationships/image" Target="../media/image-9-11.svg"/><Relationship Id="rId12" Type="http://schemas.openxmlformats.org/officeDocument/2006/relationships/image" Target="../media/image-9-12.png"/><Relationship Id="rId13" Type="http://schemas.openxmlformats.org/officeDocument/2006/relationships/image" Target="../media/image-9-13.svg"/><Relationship Id="rId14" Type="http://schemas.openxmlformats.org/officeDocument/2006/relationships/image" Target="../media/image-9-14.png"/><Relationship Id="rId15" Type="http://schemas.openxmlformats.org/officeDocument/2006/relationships/image" Target="../media/image-9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svg"/><Relationship Id="rId4" Type="http://schemas.openxmlformats.org/officeDocument/2006/relationships/image" Target="../media/image-12-4.png"/><Relationship Id="rId5" Type="http://schemas.openxmlformats.org/officeDocument/2006/relationships/image" Target="../media/image-12-5.svg"/><Relationship Id="rId6" Type="http://schemas.openxmlformats.org/officeDocument/2006/relationships/image" Target="../media/image-12-6.png"/><Relationship Id="rId7" Type="http://schemas.openxmlformats.org/officeDocument/2006/relationships/image" Target="../media/image-12-7.svg"/><Relationship Id="rId8" Type="http://schemas.openxmlformats.org/officeDocument/2006/relationships/image" Target="../media/image-12-8.png"/><Relationship Id="rId9" Type="http://schemas.openxmlformats.org/officeDocument/2006/relationships/image" Target="../media/image-12-9.sv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sv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sv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sv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svg"/><Relationship Id="rId18" Type="http://schemas.openxmlformats.org/officeDocument/2006/relationships/image" Target="../media/image-12-18.png"/><Relationship Id="rId19" Type="http://schemas.openxmlformats.org/officeDocument/2006/relationships/image" Target="../media/image-12-19.svg"/><Relationship Id="rId20" Type="http://schemas.openxmlformats.org/officeDocument/2006/relationships/image" Target="../media/image-12-20.png"/><Relationship Id="rId21" Type="http://schemas.openxmlformats.org/officeDocument/2006/relationships/image" Target="../media/image-12-21.svg"/><Relationship Id="rId22" Type="http://schemas.openxmlformats.org/officeDocument/2006/relationships/image" Target="../media/image-12-22.png"/><Relationship Id="rId23" Type="http://schemas.openxmlformats.org/officeDocument/2006/relationships/image" Target="../media/image-12-23.svg"/><Relationship Id="rId24" Type="http://schemas.openxmlformats.org/officeDocument/2006/relationships/image" Target="../media/image-12-24.png"/><Relationship Id="rId25" Type="http://schemas.openxmlformats.org/officeDocument/2006/relationships/image" Target="../media/image-12-25.svg"/><Relationship Id="rId26" Type="http://schemas.openxmlformats.org/officeDocument/2006/relationships/image" Target="../media/image-12-26.png"/><Relationship Id="rId27" Type="http://schemas.openxmlformats.org/officeDocument/2006/relationships/image" Target="../media/image-12-27.svg"/><Relationship Id="rId28" Type="http://schemas.openxmlformats.org/officeDocument/2006/relationships/image" Target="../media/image-12-28.png"/><Relationship Id="rId29" Type="http://schemas.openxmlformats.org/officeDocument/2006/relationships/image" Target="../media/image-12-29.svg"/><Relationship Id="rId30" Type="http://schemas.openxmlformats.org/officeDocument/2006/relationships/image" Target="../media/image-12-30.png"/><Relationship Id="rId31" Type="http://schemas.openxmlformats.org/officeDocument/2006/relationships/image" Target="../media/image-12-31.svg"/><Relationship Id="rId32" Type="http://schemas.openxmlformats.org/officeDocument/2006/relationships/image" Target="../media/image-12-32.png"/><Relationship Id="rId33" Type="http://schemas.openxmlformats.org/officeDocument/2006/relationships/image" Target="../media/image-12-33.svg"/><Relationship Id="rId34" Type="http://schemas.openxmlformats.org/officeDocument/2006/relationships/slideLayout" Target="../slideLayouts/slideLayout1.xml"/><Relationship Id="rId3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57200" y="4802609"/>
            <a:ext cx="606904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 | Continued Platform Development</a:t>
            </a:r>
            <a:endParaRPr lang="en-US" sz="1080" dirty="0"/>
          </a:p>
        </p:txBody>
      </p:sp>
      <p:sp>
        <p:nvSpPr>
          <p:cNvPr id="6" name="Text 1"/>
          <p:cNvSpPr/>
          <p:nvPr/>
        </p:nvSpPr>
        <p:spPr>
          <a:xfrm>
            <a:off x="8277076" y="4802609"/>
            <a:ext cx="589791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16</a:t>
            </a:r>
            <a:endParaRPr lang="en-US" sz="108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233" y="488603"/>
            <a:ext cx="2105025" cy="5143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457200" y="1279178"/>
            <a:ext cx="313400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HOOKAH PLATFORM</a:t>
            </a:r>
            <a:endParaRPr lang="en-US" sz="1080" dirty="0"/>
          </a:p>
        </p:txBody>
      </p:sp>
      <p:sp>
        <p:nvSpPr>
          <p:cNvPr id="10" name="Text 3"/>
          <p:cNvSpPr/>
          <p:nvPr/>
        </p:nvSpPr>
        <p:spPr>
          <a:xfrm>
            <a:off x="457200" y="1659136"/>
            <a:ext cx="6115482" cy="7715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5040" b="1" spc="-126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</a:t>
            </a:r>
            <a:endParaRPr lang="en-US" sz="5040" dirty="0"/>
          </a:p>
        </p:txBody>
      </p:sp>
      <p:sp>
        <p:nvSpPr>
          <p:cNvPr id="11" name="Text 4"/>
          <p:cNvSpPr/>
          <p:nvPr/>
        </p:nvSpPr>
        <p:spPr>
          <a:xfrm>
            <a:off x="457200" y="2697361"/>
            <a:ext cx="6999960" cy="595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8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Social Platform for Hookah Culture, Creators,</a:t>
            </a:r>
            <a:endParaRPr lang="en-US" sz="1800" dirty="0"/>
          </a:p>
          <a:p>
            <a:pPr algn="l" indent="0" marL="0">
              <a:lnSpc>
                <a:spcPts val="2475"/>
              </a:lnSpc>
              <a:buNone/>
            </a:pPr>
            <a:r>
              <a:rPr lang="en-US" sz="180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Businesses, Meetups, and Local Communities</a:t>
            </a:r>
            <a:endParaRPr lang="en-US" sz="1800" dirty="0"/>
          </a:p>
        </p:txBody>
      </p:sp>
      <p:sp>
        <p:nvSpPr>
          <p:cNvPr id="12" name="Shape 5"/>
          <p:cNvSpPr/>
          <p:nvPr/>
        </p:nvSpPr>
        <p:spPr>
          <a:xfrm>
            <a:off x="456233" y="3569829"/>
            <a:ext cx="733425" cy="23812"/>
          </a:xfrm>
          <a:prstGeom prst="rect">
            <a:avLst/>
          </a:prstGeom>
          <a:solidFill>
            <a:srgbClr val="1877F2"/>
          </a:solidFill>
          <a:ln/>
        </p:spPr>
      </p:sp>
      <p:sp>
        <p:nvSpPr>
          <p:cNvPr id="13" name="Shape 6"/>
          <p:cNvSpPr/>
          <p:nvPr/>
        </p:nvSpPr>
        <p:spPr>
          <a:xfrm>
            <a:off x="1279103" y="3569829"/>
            <a:ext cx="733425" cy="23812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4" name="Shape 7"/>
          <p:cNvSpPr/>
          <p:nvPr/>
        </p:nvSpPr>
        <p:spPr>
          <a:xfrm>
            <a:off x="2101974" y="3569829"/>
            <a:ext cx="733425" cy="23812"/>
          </a:xfrm>
          <a:prstGeom prst="rect">
            <a:avLst/>
          </a:prstGeom>
          <a:solidFill>
            <a:srgbClr val="D6B56D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1537439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5797600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Is Building the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884113"/>
            <a:ext cx="5810563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Hub for Hookah Culture</a:t>
            </a:r>
            <a:endParaRPr lang="en-US" sz="2520" dirty="0"/>
          </a:p>
        </p:txBody>
      </p:sp>
      <p:sp>
        <p:nvSpPr>
          <p:cNvPr id="6" name="Text 3"/>
          <p:cNvSpPr/>
          <p:nvPr/>
        </p:nvSpPr>
        <p:spPr>
          <a:xfrm>
            <a:off x="457200" y="1481584"/>
            <a:ext cx="9912556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combines a free social network, creator monetization tools, local lounge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discovery, business pages, groups, meetups, events, and premium content into one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built around hookah culture and social connection.</a:t>
            </a:r>
            <a:endParaRPr lang="en-US" sz="1440" dirty="0"/>
          </a:p>
        </p:txBody>
      </p:sp>
      <p:sp>
        <p:nvSpPr>
          <p:cNvPr id="7" name="Shape 4"/>
          <p:cNvSpPr/>
          <p:nvPr/>
        </p:nvSpPr>
        <p:spPr>
          <a:xfrm>
            <a:off x="457126" y="2465003"/>
            <a:ext cx="2633662" cy="2090737"/>
          </a:xfrm>
          <a:prstGeom prst="roundRect">
            <a:avLst>
              <a:gd name="adj" fmla="val 3062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3104" y="2664991"/>
            <a:ext cx="119131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</a:t>
            </a:r>
            <a:endParaRPr lang="en-US" sz="1660" dirty="0"/>
          </a:p>
        </p:txBody>
      </p:sp>
      <p:sp>
        <p:nvSpPr>
          <p:cNvPr id="9" name="Text 6"/>
          <p:cNvSpPr/>
          <p:nvPr/>
        </p:nvSpPr>
        <p:spPr>
          <a:xfrm>
            <a:off x="663104" y="3043982"/>
            <a:ext cx="2823865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member profiles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Lounge social feed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Buddys</a:t>
            </a:r>
            <a:endParaRPr lang="en-US" sz="1440" dirty="0"/>
          </a:p>
        </p:txBody>
      </p:sp>
      <p:sp>
        <p:nvSpPr>
          <p:cNvPr id="10" name="Shape 7"/>
          <p:cNvSpPr/>
          <p:nvPr/>
        </p:nvSpPr>
        <p:spPr>
          <a:xfrm>
            <a:off x="3255169" y="2465003"/>
            <a:ext cx="2633662" cy="2090737"/>
          </a:xfrm>
          <a:prstGeom prst="roundRect">
            <a:avLst>
              <a:gd name="adj" fmla="val 3062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61147" y="2664991"/>
            <a:ext cx="123861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</a:t>
            </a:r>
            <a:endParaRPr lang="en-US" sz="1660" dirty="0"/>
          </a:p>
        </p:txBody>
      </p:sp>
      <p:sp>
        <p:nvSpPr>
          <p:cNvPr id="12" name="Text 9"/>
          <p:cNvSpPr/>
          <p:nvPr/>
        </p:nvSpPr>
        <p:spPr>
          <a:xfrm>
            <a:off x="3461147" y="3043982"/>
            <a:ext cx="2543711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Sparks short videos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· Meetups and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1440" dirty="0"/>
          </a:p>
        </p:txBody>
      </p:sp>
      <p:sp>
        <p:nvSpPr>
          <p:cNvPr id="13" name="Shape 10"/>
          <p:cNvSpPr/>
          <p:nvPr/>
        </p:nvSpPr>
        <p:spPr>
          <a:xfrm>
            <a:off x="6053212" y="2465003"/>
            <a:ext cx="2633662" cy="2090737"/>
          </a:xfrm>
          <a:prstGeom prst="roundRect">
            <a:avLst>
              <a:gd name="adj" fmla="val 3062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59190" y="2664991"/>
            <a:ext cx="6654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</a:t>
            </a:r>
            <a:endParaRPr lang="en-US" sz="1660" dirty="0"/>
          </a:p>
        </p:txBody>
      </p:sp>
      <p:sp>
        <p:nvSpPr>
          <p:cNvPr id="15" name="Text 12"/>
          <p:cNvSpPr/>
          <p:nvPr/>
        </p:nvSpPr>
        <p:spPr>
          <a:xfrm>
            <a:off x="6259190" y="3043982"/>
            <a:ext cx="2429269" cy="1279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Pages and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Lounges · Creative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Buddy monetization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Credits and premium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</a:t>
            </a:r>
            <a:endParaRPr lang="en-US" sz="1440" dirty="0"/>
          </a:p>
        </p:txBody>
      </p:sp>
      <p:sp>
        <p:nvSpPr>
          <p:cNvPr id="16" name="Text 13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8249245" y="4802609"/>
            <a:ext cx="625971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16</a:t>
            </a:r>
            <a:endParaRPr lang="en-US" sz="108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160689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6267361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 Culture Is Social, But the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884113"/>
            <a:ext cx="6376385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Experience Is Fragmented</a:t>
            </a:r>
            <a:endParaRPr lang="en-US" sz="2520" dirty="0"/>
          </a:p>
        </p:txBody>
      </p:sp>
      <p:sp>
        <p:nvSpPr>
          <p:cNvPr id="6" name="Shape 3"/>
          <p:cNvSpPr/>
          <p:nvPr/>
        </p:nvSpPr>
        <p:spPr>
          <a:xfrm>
            <a:off x="456530" y="1463539"/>
            <a:ext cx="4033837" cy="1295400"/>
          </a:xfrm>
          <a:prstGeom prst="roundRect">
            <a:avLst>
              <a:gd name="adj" fmla="val 4941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3104" y="1663675"/>
            <a:ext cx="315267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Scattered communities</a:t>
            </a:r>
            <a:endParaRPr lang="en-US" sz="1660" dirty="0"/>
          </a:p>
        </p:txBody>
      </p:sp>
      <p:sp>
        <p:nvSpPr>
          <p:cNvPr id="8" name="Text 5"/>
          <p:cNvSpPr/>
          <p:nvPr/>
        </p:nvSpPr>
        <p:spPr>
          <a:xfrm>
            <a:off x="663104" y="2042666"/>
            <a:ext cx="4635676" cy="484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 enthusiasts are scattered across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 social media platforms.</a:t>
            </a:r>
            <a:endParaRPr lang="en-US" sz="1440" dirty="0"/>
          </a:p>
        </p:txBody>
      </p:sp>
      <p:sp>
        <p:nvSpPr>
          <p:cNvPr id="9" name="Shape 6"/>
          <p:cNvSpPr/>
          <p:nvPr/>
        </p:nvSpPr>
        <p:spPr>
          <a:xfrm>
            <a:off x="4653595" y="1463539"/>
            <a:ext cx="4033837" cy="1295400"/>
          </a:xfrm>
          <a:prstGeom prst="roundRect">
            <a:avLst>
              <a:gd name="adj" fmla="val 4941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60131" y="1663675"/>
            <a:ext cx="310372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Inconsistent discovery</a:t>
            </a:r>
            <a:endParaRPr lang="en-US" sz="1660" dirty="0"/>
          </a:p>
        </p:txBody>
      </p:sp>
      <p:sp>
        <p:nvSpPr>
          <p:cNvPr id="11" name="Text 8"/>
          <p:cNvSpPr/>
          <p:nvPr/>
        </p:nvSpPr>
        <p:spPr>
          <a:xfrm>
            <a:off x="4860131" y="2042666"/>
            <a:ext cx="4202289" cy="484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lounge discovery is limited and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inconsistent.</a:t>
            </a:r>
            <a:endParaRPr lang="en-US" sz="1440" dirty="0"/>
          </a:p>
        </p:txBody>
      </p:sp>
      <p:sp>
        <p:nvSpPr>
          <p:cNvPr id="12" name="Shape 9"/>
          <p:cNvSpPr/>
          <p:nvPr/>
        </p:nvSpPr>
        <p:spPr>
          <a:xfrm>
            <a:off x="456530" y="2924733"/>
            <a:ext cx="4033837" cy="1562100"/>
          </a:xfrm>
          <a:prstGeom prst="roundRect">
            <a:avLst>
              <a:gd name="adj" fmla="val 4098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3104" y="3125614"/>
            <a:ext cx="242298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Limited creator fit</a:t>
            </a:r>
            <a:endParaRPr lang="en-US" sz="1660" dirty="0"/>
          </a:p>
        </p:txBody>
      </p:sp>
      <p:sp>
        <p:nvSpPr>
          <p:cNvPr id="14" name="Text 11"/>
          <p:cNvSpPr/>
          <p:nvPr/>
        </p:nvSpPr>
        <p:spPr>
          <a:xfrm>
            <a:off x="663104" y="3504605"/>
            <a:ext cx="4514463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Creators lack a niche platform built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around their audience and monetization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needs.</a:t>
            </a:r>
            <a:endParaRPr lang="en-US" sz="1440" dirty="0"/>
          </a:p>
        </p:txBody>
      </p:sp>
      <p:sp>
        <p:nvSpPr>
          <p:cNvPr id="15" name="Shape 12"/>
          <p:cNvSpPr/>
          <p:nvPr/>
        </p:nvSpPr>
        <p:spPr>
          <a:xfrm>
            <a:off x="4653595" y="2924733"/>
            <a:ext cx="4033837" cy="1562100"/>
          </a:xfrm>
          <a:prstGeom prst="roundRect">
            <a:avLst>
              <a:gd name="adj" fmla="val 4098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60131" y="3125614"/>
            <a:ext cx="367719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Disconnected local activity</a:t>
            </a:r>
            <a:endParaRPr lang="en-US" sz="1660" dirty="0"/>
          </a:p>
        </p:txBody>
      </p:sp>
      <p:sp>
        <p:nvSpPr>
          <p:cNvPr id="17" name="Text 14"/>
          <p:cNvSpPr/>
          <p:nvPr/>
        </p:nvSpPr>
        <p:spPr>
          <a:xfrm>
            <a:off x="4860131" y="3504605"/>
            <a:ext cx="4389961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Businesses need better promotion.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 events are difficult to organize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discover in one place.</a:t>
            </a:r>
            <a:endParaRPr lang="en-US" sz="1440" dirty="0"/>
          </a:p>
        </p:txBody>
      </p:sp>
      <p:sp>
        <p:nvSpPr>
          <p:cNvPr id="18" name="Text 15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19" name="Text 16"/>
          <p:cNvSpPr/>
          <p:nvPr/>
        </p:nvSpPr>
        <p:spPr>
          <a:xfrm>
            <a:off x="8248129" y="4802609"/>
            <a:ext cx="62742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16</a:t>
            </a:r>
            <a:endParaRPr lang="en-US" sz="108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170083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10327660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Brings the Entire Ecosystem Together</a:t>
            </a:r>
            <a:endParaRPr lang="en-US" sz="2520" dirty="0"/>
          </a:p>
        </p:txBody>
      </p:sp>
      <p:sp>
        <p:nvSpPr>
          <p:cNvPr id="5" name="Shape 2"/>
          <p:cNvSpPr/>
          <p:nvPr/>
        </p:nvSpPr>
        <p:spPr>
          <a:xfrm>
            <a:off x="457126" y="1103598"/>
            <a:ext cx="2633662" cy="1828800"/>
          </a:xfrm>
          <a:prstGeom prst="roundRect">
            <a:avLst>
              <a:gd name="adj" fmla="val 350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3104" y="1305223"/>
            <a:ext cx="208362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Network</a:t>
            </a:r>
            <a:endParaRPr lang="en-US" sz="1660" dirty="0"/>
          </a:p>
        </p:txBody>
      </p:sp>
      <p:sp>
        <p:nvSpPr>
          <p:cNvPr id="7" name="Text 4"/>
          <p:cNvSpPr/>
          <p:nvPr/>
        </p:nvSpPr>
        <p:spPr>
          <a:xfrm>
            <a:off x="663104" y="1684213"/>
            <a:ext cx="2279035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profiles, posts,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photos, Sparks,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comments, shares,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friends, follows</a:t>
            </a:r>
            <a:endParaRPr lang="en-US" sz="1440" dirty="0"/>
          </a:p>
        </p:txBody>
      </p:sp>
      <p:sp>
        <p:nvSpPr>
          <p:cNvPr id="8" name="Shape 5"/>
          <p:cNvSpPr/>
          <p:nvPr/>
        </p:nvSpPr>
        <p:spPr>
          <a:xfrm>
            <a:off x="3255169" y="1103598"/>
            <a:ext cx="2633662" cy="1828800"/>
          </a:xfrm>
          <a:prstGeom prst="roundRect">
            <a:avLst>
              <a:gd name="adj" fmla="val 350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61147" y="1305223"/>
            <a:ext cx="22640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Creator Platform</a:t>
            </a:r>
            <a:endParaRPr lang="en-US" sz="1660" dirty="0"/>
          </a:p>
        </p:txBody>
      </p:sp>
      <p:sp>
        <p:nvSpPr>
          <p:cNvPr id="10" name="Text 7"/>
          <p:cNvSpPr/>
          <p:nvPr/>
        </p:nvSpPr>
        <p:spPr>
          <a:xfrm>
            <a:off x="3461147" y="1684213"/>
            <a:ext cx="2937532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 Buddy profiles,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albums, custom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content, messages, video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</a:t>
            </a:r>
            <a:endParaRPr lang="en-US" sz="1440" dirty="0"/>
          </a:p>
        </p:txBody>
      </p:sp>
      <p:sp>
        <p:nvSpPr>
          <p:cNvPr id="11" name="Shape 8"/>
          <p:cNvSpPr/>
          <p:nvPr/>
        </p:nvSpPr>
        <p:spPr>
          <a:xfrm>
            <a:off x="6053212" y="1103598"/>
            <a:ext cx="2633662" cy="1828800"/>
          </a:xfrm>
          <a:prstGeom prst="roundRect">
            <a:avLst>
              <a:gd name="adj" fmla="val 350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59190" y="1305223"/>
            <a:ext cx="219081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Discovery</a:t>
            </a:r>
            <a:endParaRPr lang="en-US" sz="1660" dirty="0"/>
          </a:p>
        </p:txBody>
      </p:sp>
      <p:sp>
        <p:nvSpPr>
          <p:cNvPr id="13" name="Text 10"/>
          <p:cNvSpPr/>
          <p:nvPr/>
        </p:nvSpPr>
        <p:spPr>
          <a:xfrm>
            <a:off x="6259190" y="1684213"/>
            <a:ext cx="2649929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Lounges, business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pages, 25-mile Lounge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Spotlight, events near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</a:t>
            </a:r>
            <a:endParaRPr lang="en-US" sz="1440" dirty="0"/>
          </a:p>
        </p:txBody>
      </p:sp>
      <p:sp>
        <p:nvSpPr>
          <p:cNvPr id="14" name="Shape 11"/>
          <p:cNvSpPr/>
          <p:nvPr/>
        </p:nvSpPr>
        <p:spPr>
          <a:xfrm>
            <a:off x="456530" y="3035759"/>
            <a:ext cx="4033837" cy="1295400"/>
          </a:xfrm>
          <a:prstGeom prst="roundRect">
            <a:avLst>
              <a:gd name="adj" fmla="val 4941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3104" y="3235896"/>
            <a:ext cx="283721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and Meetups</a:t>
            </a:r>
            <a:endParaRPr lang="en-US" sz="1660" dirty="0"/>
          </a:p>
        </p:txBody>
      </p:sp>
      <p:sp>
        <p:nvSpPr>
          <p:cNvPr id="16" name="Text 13"/>
          <p:cNvSpPr/>
          <p:nvPr/>
        </p:nvSpPr>
        <p:spPr>
          <a:xfrm>
            <a:off x="663104" y="3614886"/>
            <a:ext cx="3765032" cy="484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Member-created groups, hookah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meetups, event planning, RSVPs</a:t>
            </a:r>
            <a:endParaRPr lang="en-US" sz="1440" dirty="0"/>
          </a:p>
        </p:txBody>
      </p:sp>
      <p:sp>
        <p:nvSpPr>
          <p:cNvPr id="17" name="Shape 14"/>
          <p:cNvSpPr/>
          <p:nvPr/>
        </p:nvSpPr>
        <p:spPr>
          <a:xfrm>
            <a:off x="4653595" y="3035759"/>
            <a:ext cx="4033837" cy="1295400"/>
          </a:xfrm>
          <a:prstGeom prst="roundRect">
            <a:avLst>
              <a:gd name="adj" fmla="val 4941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60131" y="3235896"/>
            <a:ext cx="262129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Monetization Layer</a:t>
            </a:r>
            <a:endParaRPr lang="en-US" sz="1660" dirty="0"/>
          </a:p>
        </p:txBody>
      </p:sp>
      <p:sp>
        <p:nvSpPr>
          <p:cNvPr id="19" name="Text 16"/>
          <p:cNvSpPr/>
          <p:nvPr/>
        </p:nvSpPr>
        <p:spPr>
          <a:xfrm>
            <a:off x="4860131" y="3614886"/>
            <a:ext cx="4648059" cy="484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Credits, subscriptions, unlocks, business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promotions, featured placement</a:t>
            </a:r>
            <a:endParaRPr lang="en-US" sz="1440" dirty="0"/>
          </a:p>
        </p:txBody>
      </p:sp>
      <p:sp>
        <p:nvSpPr>
          <p:cNvPr id="20" name="Text 17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8244260" y="4802609"/>
            <a:ext cx="632453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16</a:t>
            </a:r>
            <a:endParaRPr lang="en-US" sz="108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233291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OVERVIEW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4465320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Platform Features</a:t>
            </a:r>
            <a:endParaRPr lang="en-US" sz="2520" dirty="0"/>
          </a:p>
        </p:txBody>
      </p:sp>
      <p:sp>
        <p:nvSpPr>
          <p:cNvPr id="5" name="Shape 2"/>
          <p:cNvSpPr/>
          <p:nvPr/>
        </p:nvSpPr>
        <p:spPr>
          <a:xfrm>
            <a:off x="457126" y="1103598"/>
            <a:ext cx="2633662" cy="1828800"/>
          </a:xfrm>
          <a:prstGeom prst="roundRect">
            <a:avLst>
              <a:gd name="adj" fmla="val 350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3104" y="1305223"/>
            <a:ext cx="87159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</a:t>
            </a:r>
            <a:endParaRPr lang="en-US" sz="1660" dirty="0"/>
          </a:p>
        </p:txBody>
      </p:sp>
      <p:sp>
        <p:nvSpPr>
          <p:cNvPr id="7" name="Text 4"/>
          <p:cNvSpPr/>
          <p:nvPr/>
        </p:nvSpPr>
        <p:spPr>
          <a:xfrm>
            <a:off x="663104" y="1684213"/>
            <a:ext cx="2890518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Buddy Profiles · The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Lounge Feed · Browse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Buddys · Sparks</a:t>
            </a:r>
            <a:endParaRPr lang="en-US" sz="1440" dirty="0"/>
          </a:p>
        </p:txBody>
      </p:sp>
      <p:sp>
        <p:nvSpPr>
          <p:cNvPr id="8" name="Shape 5"/>
          <p:cNvSpPr/>
          <p:nvPr/>
        </p:nvSpPr>
        <p:spPr>
          <a:xfrm>
            <a:off x="3255169" y="1103598"/>
            <a:ext cx="2633662" cy="1828800"/>
          </a:xfrm>
          <a:prstGeom prst="roundRect">
            <a:avLst>
              <a:gd name="adj" fmla="val 350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61147" y="1305223"/>
            <a:ext cx="161134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Community</a:t>
            </a:r>
            <a:endParaRPr lang="en-US" sz="1660" dirty="0"/>
          </a:p>
        </p:txBody>
      </p:sp>
      <p:sp>
        <p:nvSpPr>
          <p:cNvPr id="10" name="Text 7"/>
          <p:cNvSpPr/>
          <p:nvPr/>
        </p:nvSpPr>
        <p:spPr>
          <a:xfrm>
            <a:off x="3461147" y="1684213"/>
            <a:ext cx="2917314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· Meetups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 · Business Pages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Lounge Spotlight</a:t>
            </a:r>
            <a:endParaRPr lang="en-US" sz="1440" dirty="0"/>
          </a:p>
        </p:txBody>
      </p:sp>
      <p:sp>
        <p:nvSpPr>
          <p:cNvPr id="11" name="Shape 8"/>
          <p:cNvSpPr/>
          <p:nvPr/>
        </p:nvSpPr>
        <p:spPr>
          <a:xfrm>
            <a:off x="6053212" y="1103598"/>
            <a:ext cx="2633662" cy="1828800"/>
          </a:xfrm>
          <a:prstGeom prst="roundRect">
            <a:avLst>
              <a:gd name="adj" fmla="val 350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59190" y="1305223"/>
            <a:ext cx="118434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</a:t>
            </a:r>
            <a:endParaRPr lang="en-US" sz="1660" dirty="0"/>
          </a:p>
        </p:txBody>
      </p:sp>
      <p:sp>
        <p:nvSpPr>
          <p:cNvPr id="13" name="Text 10"/>
          <p:cNvSpPr/>
          <p:nvPr/>
        </p:nvSpPr>
        <p:spPr>
          <a:xfrm>
            <a:off x="6259190" y="1684213"/>
            <a:ext cx="2831410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 Buddy Profiles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Albums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Photo/Video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</a:t>
            </a:r>
            <a:endParaRPr lang="en-US" sz="1440" dirty="0"/>
          </a:p>
        </p:txBody>
      </p:sp>
      <p:sp>
        <p:nvSpPr>
          <p:cNvPr id="14" name="Text 11"/>
          <p:cNvSpPr/>
          <p:nvPr/>
        </p:nvSpPr>
        <p:spPr>
          <a:xfrm>
            <a:off x="457200" y="3105224"/>
            <a:ext cx="858917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Credits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7141741" y="3105224"/>
            <a:ext cx="2065727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Dashboard</a:t>
            </a:r>
            <a:endParaRPr lang="en-US" sz="1440" dirty="0"/>
          </a:p>
        </p:txBody>
      </p:sp>
      <p:sp>
        <p:nvSpPr>
          <p:cNvPr id="16" name="Text 13"/>
          <p:cNvSpPr/>
          <p:nvPr/>
        </p:nvSpPr>
        <p:spPr>
          <a:xfrm>
            <a:off x="457200" y="3576117"/>
            <a:ext cx="10378060" cy="484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is designed as a social platform first, with optional premium features layered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into the experience.</a:t>
            </a:r>
            <a:endParaRPr lang="en-US" sz="1440" dirty="0"/>
          </a:p>
        </p:txBody>
      </p:sp>
      <p:sp>
        <p:nvSpPr>
          <p:cNvPr id="17" name="Text 14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18" name="Text 15"/>
          <p:cNvSpPr/>
          <p:nvPr/>
        </p:nvSpPr>
        <p:spPr>
          <a:xfrm>
            <a:off x="8251478" y="4802609"/>
            <a:ext cx="623069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16</a:t>
            </a:r>
            <a:endParaRPr lang="en-US" sz="108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1418741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TYPES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5486876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Members, Creators,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884113"/>
            <a:ext cx="6985352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Businesses, and Local Communities</a:t>
            </a:r>
            <a:endParaRPr lang="en-US" sz="2520" dirty="0"/>
          </a:p>
        </p:txBody>
      </p:sp>
      <p:sp>
        <p:nvSpPr>
          <p:cNvPr id="6" name="Shape 3"/>
          <p:cNvSpPr/>
          <p:nvPr/>
        </p:nvSpPr>
        <p:spPr>
          <a:xfrm>
            <a:off x="457386" y="1461455"/>
            <a:ext cx="1933575" cy="2890837"/>
          </a:xfrm>
          <a:prstGeom prst="roundRect">
            <a:avLst>
              <a:gd name="adj" fmla="val 331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3104" y="1663675"/>
            <a:ext cx="163543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Buddy</a:t>
            </a:r>
            <a:endParaRPr lang="en-US" sz="1660" dirty="0"/>
          </a:p>
        </p:txBody>
      </p:sp>
      <p:sp>
        <p:nvSpPr>
          <p:cNvPr id="8" name="Text 5"/>
          <p:cNvSpPr/>
          <p:nvPr/>
        </p:nvSpPr>
        <p:spPr>
          <a:xfrm>
            <a:off x="663104" y="2042666"/>
            <a:ext cx="2009715" cy="1545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profile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feed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Buddys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Credits • Groups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Meetups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1440" dirty="0"/>
          </a:p>
        </p:txBody>
      </p:sp>
      <p:sp>
        <p:nvSpPr>
          <p:cNvPr id="9" name="Shape 6"/>
          <p:cNvSpPr/>
          <p:nvPr/>
        </p:nvSpPr>
        <p:spPr>
          <a:xfrm>
            <a:off x="2555900" y="1461455"/>
            <a:ext cx="1933575" cy="2890837"/>
          </a:xfrm>
          <a:prstGeom prst="roundRect">
            <a:avLst>
              <a:gd name="adj" fmla="val 331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61580" y="1663675"/>
            <a:ext cx="19456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Buddy</a:t>
            </a:r>
            <a:endParaRPr lang="en-US" sz="1660" dirty="0"/>
          </a:p>
        </p:txBody>
      </p:sp>
      <p:sp>
        <p:nvSpPr>
          <p:cNvPr id="11" name="Text 8"/>
          <p:cNvSpPr/>
          <p:nvPr/>
        </p:nvSpPr>
        <p:spPr>
          <a:xfrm>
            <a:off x="2761580" y="2042666"/>
            <a:ext cx="1851935" cy="2075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profile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presence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Optional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 Buddy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upgrade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monetization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440" dirty="0"/>
          </a:p>
        </p:txBody>
      </p:sp>
      <p:sp>
        <p:nvSpPr>
          <p:cNvPr id="12" name="Shape 9"/>
          <p:cNvSpPr/>
          <p:nvPr/>
        </p:nvSpPr>
        <p:spPr>
          <a:xfrm>
            <a:off x="4654451" y="1461455"/>
            <a:ext cx="1933575" cy="2890837"/>
          </a:xfrm>
          <a:prstGeom prst="roundRect">
            <a:avLst>
              <a:gd name="adj" fmla="val 331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60131" y="1663675"/>
            <a:ext cx="118434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</a:t>
            </a:r>
            <a:endParaRPr lang="en-US" sz="1660" dirty="0"/>
          </a:p>
        </p:txBody>
      </p:sp>
      <p:sp>
        <p:nvSpPr>
          <p:cNvPr id="14" name="Text 11"/>
          <p:cNvSpPr/>
          <p:nvPr/>
        </p:nvSpPr>
        <p:spPr>
          <a:xfrm>
            <a:off x="4860131" y="1916013"/>
            <a:ext cx="92034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Buddy</a:t>
            </a:r>
            <a:endParaRPr lang="en-US" sz="1660" dirty="0"/>
          </a:p>
        </p:txBody>
      </p:sp>
      <p:sp>
        <p:nvSpPr>
          <p:cNvPr id="15" name="Text 12"/>
          <p:cNvSpPr/>
          <p:nvPr/>
        </p:nvSpPr>
        <p:spPr>
          <a:xfrm>
            <a:off x="4860131" y="2295004"/>
            <a:ext cx="1965409" cy="181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content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Custom pricing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Private media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messages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sessions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Creator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40" dirty="0"/>
          </a:p>
        </p:txBody>
      </p:sp>
      <p:sp>
        <p:nvSpPr>
          <p:cNvPr id="16" name="Shape 13"/>
          <p:cNvSpPr/>
          <p:nvPr/>
        </p:nvSpPr>
        <p:spPr>
          <a:xfrm>
            <a:off x="6753002" y="1461455"/>
            <a:ext cx="1933575" cy="2890837"/>
          </a:xfrm>
          <a:prstGeom prst="roundRect">
            <a:avLst>
              <a:gd name="adj" fmla="val 331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58682" y="1663675"/>
            <a:ext cx="159074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Businesses</a:t>
            </a:r>
            <a:endParaRPr lang="en-US" sz="1660" dirty="0"/>
          </a:p>
        </p:txBody>
      </p:sp>
      <p:sp>
        <p:nvSpPr>
          <p:cNvPr id="18" name="Text 15"/>
          <p:cNvSpPr/>
          <p:nvPr/>
        </p:nvSpPr>
        <p:spPr>
          <a:xfrm>
            <a:off x="6958682" y="2042666"/>
            <a:ext cx="2028676" cy="181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Pages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Lounge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•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Posts and events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Local Spotlight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Promotions and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</a:t>
            </a:r>
            <a:endParaRPr lang="en-US" sz="1440" dirty="0"/>
          </a:p>
        </p:txBody>
      </p:sp>
      <p:sp>
        <p:nvSpPr>
          <p:cNvPr id="19" name="Text 16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8247831" y="4802609"/>
            <a:ext cx="627809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16</a:t>
            </a:r>
            <a:endParaRPr lang="en-US" sz="108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2818544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CREATOR MONETIZATION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8726932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 Buddys Can Earn Inside the Platform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1180281"/>
            <a:ext cx="2622939" cy="666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32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$24.99</a:t>
            </a:r>
            <a:endParaRPr lang="en-US" sz="4320" dirty="0"/>
          </a:p>
        </p:txBody>
      </p:sp>
      <p:sp>
        <p:nvSpPr>
          <p:cNvPr id="6" name="Text 3"/>
          <p:cNvSpPr/>
          <p:nvPr/>
        </p:nvSpPr>
        <p:spPr>
          <a:xfrm>
            <a:off x="2430884" y="1537469"/>
            <a:ext cx="913381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/month</a:t>
            </a:r>
            <a:endParaRPr lang="en-US" sz="1440" dirty="0"/>
          </a:p>
        </p:txBody>
      </p:sp>
      <p:sp>
        <p:nvSpPr>
          <p:cNvPr id="7" name="Text 4"/>
          <p:cNvSpPr/>
          <p:nvPr/>
        </p:nvSpPr>
        <p:spPr>
          <a:xfrm>
            <a:off x="457200" y="1936552"/>
            <a:ext cx="3818721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 Buddy upgrade — proposed pricing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457200" y="2292325"/>
            <a:ext cx="5134265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content sales · Custom Photo/Video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 · Private messages including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photos/videos · Video session tools</a:t>
            </a:r>
            <a:endParaRPr lang="en-US" sz="1440" dirty="0"/>
          </a:p>
        </p:txBody>
      </p:sp>
      <p:sp>
        <p:nvSpPr>
          <p:cNvPr id="9" name="Text 6"/>
          <p:cNvSpPr/>
          <p:nvPr/>
        </p:nvSpPr>
        <p:spPr>
          <a:xfrm>
            <a:off x="457200" y="3232696"/>
            <a:ext cx="5072256" cy="3586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Creator dashboard · Earnings tracking · Dedicated support ·</a:t>
            </a:r>
            <a:endParaRPr lang="en-US" sz="1080" dirty="0"/>
          </a:p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 tools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4709629" y="1104714"/>
            <a:ext cx="3976687" cy="3352800"/>
          </a:xfrm>
          <a:prstGeom prst="roundRect">
            <a:avLst>
              <a:gd name="adj" fmla="val 1909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15049" y="1305223"/>
            <a:ext cx="181856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Album model</a:t>
            </a:r>
            <a:endParaRPr lang="en-US" sz="1660" dirty="0"/>
          </a:p>
        </p:txBody>
      </p:sp>
      <p:sp>
        <p:nvSpPr>
          <p:cNvPr id="12" name="Text 9"/>
          <p:cNvSpPr/>
          <p:nvPr/>
        </p:nvSpPr>
        <p:spPr>
          <a:xfrm>
            <a:off x="4915049" y="1760934"/>
            <a:ext cx="133593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Album</a:t>
            </a:r>
            <a:endParaRPr lang="en-US" sz="1440" dirty="0"/>
          </a:p>
        </p:txBody>
      </p:sp>
      <p:sp>
        <p:nvSpPr>
          <p:cNvPr id="13" name="Text 10"/>
          <p:cNvSpPr/>
          <p:nvPr/>
        </p:nvSpPr>
        <p:spPr>
          <a:xfrm>
            <a:off x="7270552" y="1760934"/>
            <a:ext cx="1630598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free images</a:t>
            </a:r>
            <a:endParaRPr lang="en-US" sz="1440" dirty="0"/>
          </a:p>
        </p:txBody>
      </p:sp>
      <p:sp>
        <p:nvSpPr>
          <p:cNvPr id="14" name="Text 11"/>
          <p:cNvSpPr/>
          <p:nvPr/>
        </p:nvSpPr>
        <p:spPr>
          <a:xfrm>
            <a:off x="4915049" y="2183978"/>
            <a:ext cx="135615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Cool Album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7589416" y="2183978"/>
            <a:ext cx="121607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credits</a:t>
            </a:r>
            <a:endParaRPr lang="en-US" sz="1440" dirty="0"/>
          </a:p>
        </p:txBody>
      </p:sp>
      <p:sp>
        <p:nvSpPr>
          <p:cNvPr id="16" name="Text 13"/>
          <p:cNvSpPr/>
          <p:nvPr/>
        </p:nvSpPr>
        <p:spPr>
          <a:xfrm>
            <a:off x="4915049" y="2607022"/>
            <a:ext cx="213528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Smokin Hot Album</a:t>
            </a:r>
            <a:endParaRPr lang="en-US" sz="1440" dirty="0"/>
          </a:p>
        </p:txBody>
      </p:sp>
      <p:sp>
        <p:nvSpPr>
          <p:cNvPr id="17" name="Text 14"/>
          <p:cNvSpPr/>
          <p:nvPr/>
        </p:nvSpPr>
        <p:spPr>
          <a:xfrm>
            <a:off x="7492901" y="2607022"/>
            <a:ext cx="134154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credits</a:t>
            </a:r>
            <a:endParaRPr lang="en-US" sz="1440" dirty="0"/>
          </a:p>
        </p:txBody>
      </p:sp>
      <p:sp>
        <p:nvSpPr>
          <p:cNvPr id="18" name="Text 15"/>
          <p:cNvSpPr/>
          <p:nvPr/>
        </p:nvSpPr>
        <p:spPr>
          <a:xfrm>
            <a:off x="4915049" y="3056186"/>
            <a:ext cx="465657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Smokin Hot includes Cool Album access.</a:t>
            </a:r>
            <a:endParaRPr lang="en-US" sz="1440" dirty="0"/>
          </a:p>
        </p:txBody>
      </p:sp>
      <p:sp>
        <p:nvSpPr>
          <p:cNvPr id="19" name="Text 16"/>
          <p:cNvSpPr/>
          <p:nvPr/>
        </p:nvSpPr>
        <p:spPr>
          <a:xfrm>
            <a:off x="4915049" y="3475658"/>
            <a:ext cx="4371290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→ credits held → creator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accepts → delivery → credits released.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 requires mutual agreement.</a:t>
            </a:r>
            <a:endParaRPr lang="en-US" sz="1440" dirty="0"/>
          </a:p>
        </p:txBody>
      </p:sp>
      <p:sp>
        <p:nvSpPr>
          <p:cNvPr id="20" name="Text 17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8257952" y="4802609"/>
            <a:ext cx="614653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16</a:t>
            </a:r>
            <a:endParaRPr lang="en-US" sz="108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14416" y="1664754"/>
            <a:ext cx="3567113" cy="423862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4416" y="2087798"/>
            <a:ext cx="3567113" cy="423862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14416" y="2510842"/>
            <a:ext cx="3567113" cy="423862"/>
          </a:xfrm>
          <a:prstGeom prst="rect">
            <a:avLst/>
          </a:prstGeom>
        </p:spPr>
      </p:pic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205199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CREDIT ECONOMY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6954493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Credits Power Premium Interactions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1170756"/>
            <a:ext cx="4449068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credit = $0.10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457200" y="1850827"/>
            <a:ext cx="4142214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405"/>
              </a:spcBef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reference value; bundle bonuses vary.</a:t>
            </a:r>
            <a:endParaRPr lang="en-US" sz="1080" dirty="0"/>
          </a:p>
        </p:txBody>
      </p:sp>
      <p:sp>
        <p:nvSpPr>
          <p:cNvPr id="7" name="Text 4"/>
          <p:cNvSpPr/>
          <p:nvPr/>
        </p:nvSpPr>
        <p:spPr>
          <a:xfrm>
            <a:off x="457200" y="2258020"/>
            <a:ext cx="5096054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messages · Premium content unlocks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Custom photo/video requests · Video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 · Album unlocks</a:t>
            </a:r>
            <a:endParaRPr lang="en-US" sz="1440" dirty="0"/>
          </a:p>
        </p:txBody>
      </p:sp>
      <p:sp>
        <p:nvSpPr>
          <p:cNvPr id="8" name="Text 5"/>
          <p:cNvSpPr/>
          <p:nvPr/>
        </p:nvSpPr>
        <p:spPr>
          <a:xfrm>
            <a:off x="457200" y="3249811"/>
            <a:ext cx="5118400" cy="3586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Credits create a flexible microtransaction system that allows</a:t>
            </a:r>
            <a:endParaRPr lang="en-US" sz="1080" dirty="0"/>
          </a:p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 to start free and pay only for premium access.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753905" y="1104454"/>
            <a:ext cx="3933825" cy="3514725"/>
          </a:xfrm>
          <a:prstGeom prst="roundRect">
            <a:avLst>
              <a:gd name="adj" fmla="val 1821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60739" y="1305223"/>
            <a:ext cx="347994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Suggested credit bundles</a:t>
            </a:r>
            <a:endParaRPr lang="en-US" sz="1660" dirty="0"/>
          </a:p>
        </p:txBody>
      </p:sp>
      <p:sp>
        <p:nvSpPr>
          <p:cNvPr id="11" name="Text 8"/>
          <p:cNvSpPr/>
          <p:nvPr/>
        </p:nvSpPr>
        <p:spPr>
          <a:xfrm>
            <a:off x="4960739" y="1760934"/>
            <a:ext cx="114584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 Pack</a:t>
            </a:r>
            <a:endParaRPr lang="en-US" sz="1440" dirty="0"/>
          </a:p>
        </p:txBody>
      </p:sp>
      <p:sp>
        <p:nvSpPr>
          <p:cNvPr id="12" name="Text 9"/>
          <p:cNvSpPr/>
          <p:nvPr/>
        </p:nvSpPr>
        <p:spPr>
          <a:xfrm>
            <a:off x="7552804" y="1760934"/>
            <a:ext cx="126367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 / 50</a:t>
            </a:r>
            <a:endParaRPr lang="en-US" sz="1440" dirty="0"/>
          </a:p>
        </p:txBody>
      </p:sp>
      <p:sp>
        <p:nvSpPr>
          <p:cNvPr id="13" name="Text 10"/>
          <p:cNvSpPr/>
          <p:nvPr/>
        </p:nvSpPr>
        <p:spPr>
          <a:xfrm>
            <a:off x="4960739" y="2183978"/>
            <a:ext cx="143712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 Pack</a:t>
            </a:r>
            <a:endParaRPr lang="en-US" sz="1440" dirty="0"/>
          </a:p>
        </p:txBody>
      </p:sp>
      <p:sp>
        <p:nvSpPr>
          <p:cNvPr id="14" name="Text 11"/>
          <p:cNvSpPr/>
          <p:nvPr/>
        </p:nvSpPr>
        <p:spPr>
          <a:xfrm>
            <a:off x="7512993" y="2183978"/>
            <a:ext cx="131542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$9.99 / 110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4960739" y="2607022"/>
            <a:ext cx="1354991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Pack</a:t>
            </a:r>
            <a:endParaRPr lang="en-US" sz="1440" dirty="0"/>
          </a:p>
        </p:txBody>
      </p:sp>
      <p:sp>
        <p:nvSpPr>
          <p:cNvPr id="16" name="Text 13"/>
          <p:cNvSpPr/>
          <p:nvPr/>
        </p:nvSpPr>
        <p:spPr>
          <a:xfrm>
            <a:off x="7355830" y="2607022"/>
            <a:ext cx="1519736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$19.99 / 240</a:t>
            </a:r>
            <a:endParaRPr lang="en-US" sz="1440" dirty="0"/>
          </a:p>
        </p:txBody>
      </p:sp>
      <p:sp>
        <p:nvSpPr>
          <p:cNvPr id="17" name="Text 14"/>
          <p:cNvSpPr/>
          <p:nvPr/>
        </p:nvSpPr>
        <p:spPr>
          <a:xfrm>
            <a:off x="4960739" y="3030066"/>
            <a:ext cx="153521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Popular Pack</a:t>
            </a:r>
            <a:endParaRPr lang="en-US" sz="1440" dirty="0"/>
          </a:p>
        </p:txBody>
      </p:sp>
      <p:sp>
        <p:nvSpPr>
          <p:cNvPr id="18" name="Text 15"/>
          <p:cNvSpPr/>
          <p:nvPr/>
        </p:nvSpPr>
        <p:spPr>
          <a:xfrm>
            <a:off x="7323683" y="3030066"/>
            <a:ext cx="1561527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$39.99 / 520</a:t>
            </a:r>
            <a:endParaRPr lang="en-US" sz="1440" dirty="0"/>
          </a:p>
        </p:txBody>
      </p:sp>
      <p:sp>
        <p:nvSpPr>
          <p:cNvPr id="19" name="Text 16"/>
          <p:cNvSpPr/>
          <p:nvPr/>
        </p:nvSpPr>
        <p:spPr>
          <a:xfrm>
            <a:off x="4960739" y="3453110"/>
            <a:ext cx="105519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VIP Pack</a:t>
            </a:r>
            <a:endParaRPr lang="en-US" sz="1440" dirty="0"/>
          </a:p>
        </p:txBody>
      </p:sp>
      <p:sp>
        <p:nvSpPr>
          <p:cNvPr id="20" name="Text 17"/>
          <p:cNvSpPr/>
          <p:nvPr/>
        </p:nvSpPr>
        <p:spPr>
          <a:xfrm>
            <a:off x="7240637" y="3453110"/>
            <a:ext cx="1669487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$79.99 / 1,100</a:t>
            </a:r>
            <a:endParaRPr lang="en-US" sz="1440" dirty="0"/>
          </a:p>
        </p:txBody>
      </p:sp>
      <p:sp>
        <p:nvSpPr>
          <p:cNvPr id="21" name="Text 18"/>
          <p:cNvSpPr/>
          <p:nvPr/>
        </p:nvSpPr>
        <p:spPr>
          <a:xfrm>
            <a:off x="4960739" y="3902273"/>
            <a:ext cx="4545613" cy="484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Proposal from brief; differs from current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configuration.</a:t>
            </a:r>
            <a:endParaRPr lang="en-US" sz="1440" dirty="0"/>
          </a:p>
        </p:txBody>
      </p:sp>
      <p:sp>
        <p:nvSpPr>
          <p:cNvPr id="22" name="Text 19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23" name="Text 20"/>
          <p:cNvSpPr/>
          <p:nvPr/>
        </p:nvSpPr>
        <p:spPr>
          <a:xfrm>
            <a:off x="8247980" y="4802609"/>
            <a:ext cx="627616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16</a:t>
            </a:r>
            <a:endParaRPr lang="en-US" sz="10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074" y="1664754"/>
            <a:ext cx="3519487" cy="423862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074" y="2087798"/>
            <a:ext cx="3519487" cy="423862"/>
          </a:xfrm>
          <a:prstGeom prst="rect">
            <a:avLst/>
          </a:prstGeom>
        </p:spPr>
      </p:pic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1074" y="2510842"/>
            <a:ext cx="3519487" cy="423862"/>
          </a:xfrm>
          <a:prstGeom prst="rect">
            <a:avLst/>
          </a:prstGeom>
        </p:spPr>
      </p:pic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61074" y="2933886"/>
            <a:ext cx="3519487" cy="423862"/>
          </a:xfrm>
          <a:prstGeom prst="rect">
            <a:avLst/>
          </a:prstGeom>
        </p:spPr>
      </p:pic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61074" y="3356930"/>
            <a:ext cx="3519487" cy="423862"/>
          </a:xfrm>
          <a:prstGeom prst="rect">
            <a:avLst/>
          </a:prstGeom>
        </p:spPr>
      </p:pic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2345784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MEMBERSHIP MODEL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6951494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to Join, Optional Paid Upgrades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1123131"/>
            <a:ext cx="883585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1215"/>
              </a:spcAft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Free Profile → Male Buddy or Female Buddy → free or optional upgrade</a:t>
            </a:r>
            <a:endParaRPr lang="en-US" sz="1440" dirty="0"/>
          </a:p>
        </p:txBody>
      </p:sp>
      <p:sp>
        <p:nvSpPr>
          <p:cNvPr id="6" name="Shape 3"/>
          <p:cNvSpPr/>
          <p:nvPr/>
        </p:nvSpPr>
        <p:spPr>
          <a:xfrm>
            <a:off x="456530" y="1523926"/>
            <a:ext cx="4033837" cy="2562225"/>
          </a:xfrm>
          <a:prstGeom prst="roundRect">
            <a:avLst>
              <a:gd name="adj" fmla="val 2498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3104" y="1724695"/>
            <a:ext cx="270526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Buddy options</a:t>
            </a:r>
            <a:endParaRPr lang="en-US" sz="1660" dirty="0"/>
          </a:p>
        </p:txBody>
      </p:sp>
      <p:sp>
        <p:nvSpPr>
          <p:cNvPr id="8" name="Text 5"/>
          <p:cNvSpPr/>
          <p:nvPr/>
        </p:nvSpPr>
        <p:spPr>
          <a:xfrm>
            <a:off x="663104" y="2180406"/>
            <a:ext cx="1341641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Profile</a:t>
            </a:r>
            <a:endParaRPr lang="en-US" sz="1440" dirty="0"/>
          </a:p>
        </p:txBody>
      </p:sp>
      <p:sp>
        <p:nvSpPr>
          <p:cNvPr id="9" name="Text 6"/>
          <p:cNvSpPr/>
          <p:nvPr/>
        </p:nvSpPr>
        <p:spPr>
          <a:xfrm>
            <a:off x="3395737" y="2180406"/>
            <a:ext cx="121162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$0/month</a:t>
            </a:r>
            <a:endParaRPr lang="en-US" sz="1440" dirty="0"/>
          </a:p>
        </p:txBody>
      </p:sp>
      <p:sp>
        <p:nvSpPr>
          <p:cNvPr id="10" name="Text 7"/>
          <p:cNvSpPr/>
          <p:nvPr/>
        </p:nvSpPr>
        <p:spPr>
          <a:xfrm>
            <a:off x="663104" y="2603450"/>
            <a:ext cx="68295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440" dirty="0"/>
          </a:p>
        </p:txBody>
      </p:sp>
      <p:sp>
        <p:nvSpPr>
          <p:cNvPr id="11" name="Text 8"/>
          <p:cNvSpPr/>
          <p:nvPr/>
        </p:nvSpPr>
        <p:spPr>
          <a:xfrm>
            <a:off x="2700263" y="2603450"/>
            <a:ext cx="2115741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$9.99 • 75 credits</a:t>
            </a:r>
            <a:endParaRPr lang="en-US" sz="1440" dirty="0"/>
          </a:p>
        </p:txBody>
      </p:sp>
      <p:sp>
        <p:nvSpPr>
          <p:cNvPr id="12" name="Text 9"/>
          <p:cNvSpPr/>
          <p:nvPr/>
        </p:nvSpPr>
        <p:spPr>
          <a:xfrm>
            <a:off x="663104" y="3026494"/>
            <a:ext cx="580117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440" dirty="0"/>
          </a:p>
        </p:txBody>
      </p:sp>
      <p:sp>
        <p:nvSpPr>
          <p:cNvPr id="13" name="Text 10"/>
          <p:cNvSpPr/>
          <p:nvPr/>
        </p:nvSpPr>
        <p:spPr>
          <a:xfrm>
            <a:off x="2542580" y="3026494"/>
            <a:ext cx="232072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$19.99 • 175 credits</a:t>
            </a:r>
            <a:endParaRPr lang="en-US" sz="1440" dirty="0"/>
          </a:p>
        </p:txBody>
      </p:sp>
      <p:sp>
        <p:nvSpPr>
          <p:cNvPr id="14" name="Text 11"/>
          <p:cNvSpPr/>
          <p:nvPr/>
        </p:nvSpPr>
        <p:spPr>
          <a:xfrm>
            <a:off x="663104" y="3449538"/>
            <a:ext cx="102453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Platinum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2430289" y="3449538"/>
            <a:ext cx="2466707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$39.99 • 400 credits</a:t>
            </a:r>
            <a:endParaRPr lang="en-US" sz="1440" dirty="0"/>
          </a:p>
        </p:txBody>
      </p:sp>
      <p:sp>
        <p:nvSpPr>
          <p:cNvPr id="16" name="Shape 13"/>
          <p:cNvSpPr/>
          <p:nvPr/>
        </p:nvSpPr>
        <p:spPr>
          <a:xfrm>
            <a:off x="4653595" y="1523926"/>
            <a:ext cx="4033837" cy="2562225"/>
          </a:xfrm>
          <a:prstGeom prst="roundRect">
            <a:avLst>
              <a:gd name="adj" fmla="val 2498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60131" y="1724695"/>
            <a:ext cx="301550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Buddy options</a:t>
            </a:r>
            <a:endParaRPr lang="en-US" sz="1660" dirty="0"/>
          </a:p>
        </p:txBody>
      </p:sp>
      <p:sp>
        <p:nvSpPr>
          <p:cNvPr id="18" name="Text 15"/>
          <p:cNvSpPr/>
          <p:nvPr/>
        </p:nvSpPr>
        <p:spPr>
          <a:xfrm>
            <a:off x="4860131" y="2180406"/>
            <a:ext cx="1341641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Profile</a:t>
            </a:r>
            <a:endParaRPr lang="en-US" sz="1440" dirty="0"/>
          </a:p>
        </p:txBody>
      </p:sp>
      <p:sp>
        <p:nvSpPr>
          <p:cNvPr id="19" name="Text 16"/>
          <p:cNvSpPr/>
          <p:nvPr/>
        </p:nvSpPr>
        <p:spPr>
          <a:xfrm>
            <a:off x="7592839" y="2180406"/>
            <a:ext cx="121162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$0/month</a:t>
            </a:r>
            <a:endParaRPr lang="en-US" sz="1440" dirty="0"/>
          </a:p>
        </p:txBody>
      </p:sp>
      <p:sp>
        <p:nvSpPr>
          <p:cNvPr id="20" name="Text 17"/>
          <p:cNvSpPr/>
          <p:nvPr/>
        </p:nvSpPr>
        <p:spPr>
          <a:xfrm>
            <a:off x="4860131" y="2603450"/>
            <a:ext cx="178228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 Buddy</a:t>
            </a:r>
            <a:endParaRPr lang="en-US" sz="1440" dirty="0"/>
          </a:p>
        </p:txBody>
      </p:sp>
      <p:sp>
        <p:nvSpPr>
          <p:cNvPr id="21" name="Text 18"/>
          <p:cNvSpPr/>
          <p:nvPr/>
        </p:nvSpPr>
        <p:spPr>
          <a:xfrm>
            <a:off x="7190110" y="2603450"/>
            <a:ext cx="173517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$24.99/month</a:t>
            </a:r>
            <a:endParaRPr lang="en-US" sz="1440" dirty="0"/>
          </a:p>
        </p:txBody>
      </p:sp>
      <p:sp>
        <p:nvSpPr>
          <p:cNvPr id="22" name="Text 19"/>
          <p:cNvSpPr/>
          <p:nvPr/>
        </p:nvSpPr>
        <p:spPr>
          <a:xfrm>
            <a:off x="4860131" y="3104034"/>
            <a:ext cx="4585275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free social network drives adoption,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while optional premium upgrades drive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revenue.</a:t>
            </a:r>
            <a:endParaRPr lang="en-US" sz="1440" dirty="0"/>
          </a:p>
        </p:txBody>
      </p:sp>
      <p:sp>
        <p:nvSpPr>
          <p:cNvPr id="23" name="Text 20"/>
          <p:cNvSpPr/>
          <p:nvPr/>
        </p:nvSpPr>
        <p:spPr>
          <a:xfrm>
            <a:off x="457200" y="4198888"/>
            <a:ext cx="858317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monthly pricing and credits from brief; reconcile with live plans before investor distribution.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25" name="Text 22"/>
          <p:cNvSpPr/>
          <p:nvPr/>
        </p:nvSpPr>
        <p:spPr>
          <a:xfrm>
            <a:off x="8247831" y="4802609"/>
            <a:ext cx="627809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16</a:t>
            </a:r>
            <a:endParaRPr lang="en-US" sz="108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3699" y="2084226"/>
            <a:ext cx="3619500" cy="423862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3699" y="2507270"/>
            <a:ext cx="3619500" cy="423862"/>
          </a:xfrm>
          <a:prstGeom prst="rect">
            <a:avLst/>
          </a:prstGeom>
        </p:spPr>
      </p:pic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3699" y="2930314"/>
            <a:ext cx="3619500" cy="423862"/>
          </a:xfrm>
          <a:prstGeom prst="rect">
            <a:avLst/>
          </a:prstGeom>
        </p:spPr>
      </p:pic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3699" y="3353358"/>
            <a:ext cx="3619500" cy="423862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860764" y="2084226"/>
            <a:ext cx="3619500" cy="423862"/>
          </a:xfrm>
          <a:prstGeom prst="rect">
            <a:avLst/>
          </a:prstGeom>
        </p:spPr>
      </p:pic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860764" y="2507270"/>
            <a:ext cx="3619500" cy="423862"/>
          </a:xfrm>
          <a:prstGeom prst="rect">
            <a:avLst/>
          </a:prstGeom>
        </p:spPr>
      </p:pic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2906286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MONETIZATION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8487794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Businesses Create Another Revenue Engine</a:t>
            </a:r>
            <a:endParaRPr lang="en-US" sz="2520" dirty="0"/>
          </a:p>
        </p:txBody>
      </p:sp>
      <p:sp>
        <p:nvSpPr>
          <p:cNvPr id="5" name="Shape 2"/>
          <p:cNvSpPr/>
          <p:nvPr/>
        </p:nvSpPr>
        <p:spPr>
          <a:xfrm>
            <a:off x="457126" y="1103747"/>
            <a:ext cx="2633662" cy="2624138"/>
          </a:xfrm>
          <a:prstGeom prst="roundRect">
            <a:avLst>
              <a:gd name="adj" fmla="val 2439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3104" y="1305223"/>
            <a:ext cx="216053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Pages</a:t>
            </a:r>
            <a:endParaRPr lang="en-US" sz="1660" dirty="0"/>
          </a:p>
        </p:txBody>
      </p:sp>
      <p:sp>
        <p:nvSpPr>
          <p:cNvPr id="7" name="Text 4"/>
          <p:cNvSpPr/>
          <p:nvPr/>
        </p:nvSpPr>
        <p:spPr>
          <a:xfrm>
            <a:off x="663104" y="1684213"/>
            <a:ext cx="2872427" cy="1545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Profiles · Posts · Photos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Sparks · Services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Products/catalog · Offers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Events · Reviews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 · Messaging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</a:t>
            </a:r>
            <a:endParaRPr lang="en-US" sz="1440" dirty="0"/>
          </a:p>
        </p:txBody>
      </p:sp>
      <p:sp>
        <p:nvSpPr>
          <p:cNvPr id="8" name="Shape 5"/>
          <p:cNvSpPr/>
          <p:nvPr/>
        </p:nvSpPr>
        <p:spPr>
          <a:xfrm>
            <a:off x="3255169" y="1103747"/>
            <a:ext cx="2633662" cy="2624138"/>
          </a:xfrm>
          <a:prstGeom prst="roundRect">
            <a:avLst>
              <a:gd name="adj" fmla="val 2439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61147" y="1305223"/>
            <a:ext cx="233117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Lounge Spotlight</a:t>
            </a:r>
            <a:endParaRPr lang="en-US" sz="1660" dirty="0"/>
          </a:p>
        </p:txBody>
      </p:sp>
      <p:sp>
        <p:nvSpPr>
          <p:cNvPr id="10" name="Text 7"/>
          <p:cNvSpPr/>
          <p:nvPr/>
        </p:nvSpPr>
        <p:spPr>
          <a:xfrm>
            <a:off x="3461147" y="1684213"/>
            <a:ext cx="2917798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businesses within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miles · Daily discovery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Traffic to the lounge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directory</a:t>
            </a:r>
            <a:endParaRPr lang="en-US" sz="1440" dirty="0"/>
          </a:p>
        </p:txBody>
      </p:sp>
      <p:sp>
        <p:nvSpPr>
          <p:cNvPr id="11" name="Shape 8"/>
          <p:cNvSpPr/>
          <p:nvPr/>
        </p:nvSpPr>
        <p:spPr>
          <a:xfrm>
            <a:off x="6053212" y="1103747"/>
            <a:ext cx="2633662" cy="2624138"/>
          </a:xfrm>
          <a:prstGeom prst="roundRect">
            <a:avLst>
              <a:gd name="adj" fmla="val 2439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59190" y="1305223"/>
            <a:ext cx="238960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Potential revenue</a:t>
            </a:r>
            <a:endParaRPr lang="en-US" sz="1660" dirty="0"/>
          </a:p>
        </p:txBody>
      </p:sp>
      <p:sp>
        <p:nvSpPr>
          <p:cNvPr id="13" name="Text 10"/>
          <p:cNvSpPr/>
          <p:nvPr/>
        </p:nvSpPr>
        <p:spPr>
          <a:xfrm>
            <a:off x="6259190" y="1684213"/>
            <a:ext cx="2494761" cy="181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Featured placement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Sponsored Spotlight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Boosted posts · Event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promotion · Lead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generation · Business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Advertising</a:t>
            </a:r>
            <a:endParaRPr lang="en-US" sz="1440" dirty="0"/>
          </a:p>
        </p:txBody>
      </p:sp>
      <p:sp>
        <p:nvSpPr>
          <p:cNvPr id="14" name="Text 11"/>
          <p:cNvSpPr/>
          <p:nvPr/>
        </p:nvSpPr>
        <p:spPr>
          <a:xfrm>
            <a:off x="457200" y="3891335"/>
            <a:ext cx="841824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215"/>
              </a:spcBef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monetization channels are opportunities, not reported revenue or confirmed partnerships.</a:t>
            </a:r>
            <a:endParaRPr lang="en-US" sz="1080" dirty="0"/>
          </a:p>
        </p:txBody>
      </p:sp>
      <p:sp>
        <p:nvSpPr>
          <p:cNvPr id="15" name="Text 12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8277076" y="4802609"/>
            <a:ext cx="589791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08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2989481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NETWORK EFFECTS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9144647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Meetups Turn Online Interest Into Local Activity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1123131"/>
            <a:ext cx="10323500" cy="484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 can start a Meetup by creating the full event in one flow: title, date, time, location,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RSVP rules, privacy, and invites.</a:t>
            </a:r>
            <a:endParaRPr lang="en-US" sz="1440" dirty="0"/>
          </a:p>
        </p:txBody>
      </p:sp>
      <p:sp>
        <p:nvSpPr>
          <p:cNvPr id="6" name="Shape 3"/>
          <p:cNvSpPr/>
          <p:nvPr/>
        </p:nvSpPr>
        <p:spPr>
          <a:xfrm>
            <a:off x="457126" y="1839702"/>
            <a:ext cx="2633662" cy="1828800"/>
          </a:xfrm>
          <a:prstGeom prst="roundRect">
            <a:avLst>
              <a:gd name="adj" fmla="val 350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3104" y="2041327"/>
            <a:ext cx="126221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Organize</a:t>
            </a:r>
            <a:endParaRPr lang="en-US" sz="1660" dirty="0"/>
          </a:p>
        </p:txBody>
      </p:sp>
      <p:sp>
        <p:nvSpPr>
          <p:cNvPr id="8" name="Text 5"/>
          <p:cNvSpPr/>
          <p:nvPr/>
        </p:nvSpPr>
        <p:spPr>
          <a:xfrm>
            <a:off x="663104" y="2420317"/>
            <a:ext cx="2620521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 meetups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Lounge nights · Smoke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 · Business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networking</a:t>
            </a:r>
            <a:endParaRPr lang="en-US" sz="1440" dirty="0"/>
          </a:p>
        </p:txBody>
      </p:sp>
      <p:sp>
        <p:nvSpPr>
          <p:cNvPr id="9" name="Shape 6"/>
          <p:cNvSpPr/>
          <p:nvPr/>
        </p:nvSpPr>
        <p:spPr>
          <a:xfrm>
            <a:off x="3255169" y="1839702"/>
            <a:ext cx="2633662" cy="1828800"/>
          </a:xfrm>
          <a:prstGeom prst="roundRect">
            <a:avLst>
              <a:gd name="adj" fmla="val 350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61147" y="2041327"/>
            <a:ext cx="150928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Participate</a:t>
            </a:r>
            <a:endParaRPr lang="en-US" sz="1660" dirty="0"/>
          </a:p>
        </p:txBody>
      </p:sp>
      <p:sp>
        <p:nvSpPr>
          <p:cNvPr id="11" name="Text 8"/>
          <p:cNvSpPr/>
          <p:nvPr/>
        </p:nvSpPr>
        <p:spPr>
          <a:xfrm>
            <a:off x="3461147" y="2420317"/>
            <a:ext cx="2872427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RSVP tracking · Attendee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· Event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</a:t>
            </a:r>
            <a:endParaRPr lang="en-US" sz="1440" dirty="0"/>
          </a:p>
        </p:txBody>
      </p:sp>
      <p:sp>
        <p:nvSpPr>
          <p:cNvPr id="12" name="Shape 9"/>
          <p:cNvSpPr/>
          <p:nvPr/>
        </p:nvSpPr>
        <p:spPr>
          <a:xfrm>
            <a:off x="6053212" y="1839702"/>
            <a:ext cx="2633662" cy="1828800"/>
          </a:xfrm>
          <a:prstGeom prst="roundRect">
            <a:avLst>
              <a:gd name="adj" fmla="val 350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59190" y="2041327"/>
            <a:ext cx="95014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</a:t>
            </a:r>
            <a:endParaRPr lang="en-US" sz="1660" dirty="0"/>
          </a:p>
        </p:txBody>
      </p:sp>
      <p:sp>
        <p:nvSpPr>
          <p:cNvPr id="14" name="Text 11"/>
          <p:cNvSpPr/>
          <p:nvPr/>
        </p:nvSpPr>
        <p:spPr>
          <a:xfrm>
            <a:off x="6259190" y="2420317"/>
            <a:ext cx="2871170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Events page · The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Lounge feed integration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Real-world community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457200" y="3892748"/>
            <a:ext cx="792197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620"/>
              </a:spcBef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Designed to support repeat engagement and local community growth.</a:t>
            </a:r>
            <a:endParaRPr lang="en-US" sz="1440" dirty="0"/>
          </a:p>
        </p:txBody>
      </p:sp>
      <p:sp>
        <p:nvSpPr>
          <p:cNvPr id="16" name="Text 13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8307809" y="4802609"/>
            <a:ext cx="54983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08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3088541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POSITIONING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5084542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Combines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884113"/>
            <a:ext cx="6297737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Proven Platform Models</a:t>
            </a:r>
            <a:endParaRPr lang="en-US" sz="2520" dirty="0"/>
          </a:p>
        </p:txBody>
      </p:sp>
      <p:sp>
        <p:nvSpPr>
          <p:cNvPr id="6" name="Text 3"/>
          <p:cNvSpPr/>
          <p:nvPr/>
        </p:nvSpPr>
        <p:spPr>
          <a:xfrm>
            <a:off x="457200" y="1476821"/>
            <a:ext cx="167829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Type</a:t>
            </a:r>
            <a:endParaRPr lang="en-US" sz="1440" dirty="0"/>
          </a:p>
        </p:txBody>
      </p:sp>
      <p:sp>
        <p:nvSpPr>
          <p:cNvPr id="7" name="Text 4"/>
          <p:cNvSpPr/>
          <p:nvPr/>
        </p:nvSpPr>
        <p:spPr>
          <a:xfrm>
            <a:off x="2886819" y="1476821"/>
            <a:ext cx="153879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40" dirty="0"/>
          </a:p>
        </p:txBody>
      </p:sp>
      <p:sp>
        <p:nvSpPr>
          <p:cNvPr id="8" name="Text 5"/>
          <p:cNvSpPr/>
          <p:nvPr/>
        </p:nvSpPr>
        <p:spPr>
          <a:xfrm>
            <a:off x="5316513" y="1476821"/>
            <a:ext cx="315828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Advantage</a:t>
            </a:r>
            <a:endParaRPr lang="en-US" sz="1440" dirty="0"/>
          </a:p>
        </p:txBody>
      </p:sp>
      <p:sp>
        <p:nvSpPr>
          <p:cNvPr id="9" name="Text 6"/>
          <p:cNvSpPr/>
          <p:nvPr/>
        </p:nvSpPr>
        <p:spPr>
          <a:xfrm>
            <a:off x="457200" y="1852761"/>
            <a:ext cx="1720081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network</a:t>
            </a:r>
            <a:endParaRPr lang="en-US" sz="1440" dirty="0"/>
          </a:p>
        </p:txBody>
      </p:sp>
      <p:sp>
        <p:nvSpPr>
          <p:cNvPr id="10" name="Text 7"/>
          <p:cNvSpPr/>
          <p:nvPr/>
        </p:nvSpPr>
        <p:spPr>
          <a:xfrm>
            <a:off x="2886819" y="1852761"/>
            <a:ext cx="2534327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Profiles, feed, friends,</a:t>
            </a:r>
            <a:endParaRPr lang="en-US" sz="1440" dirty="0"/>
          </a:p>
        </p:txBody>
      </p:sp>
      <p:sp>
        <p:nvSpPr>
          <p:cNvPr id="11" name="Text 8"/>
          <p:cNvSpPr/>
          <p:nvPr/>
        </p:nvSpPr>
        <p:spPr>
          <a:xfrm>
            <a:off x="2886819" y="2063055"/>
            <a:ext cx="842568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</a:t>
            </a:r>
            <a:endParaRPr lang="en-US" sz="1440" dirty="0"/>
          </a:p>
        </p:txBody>
      </p:sp>
      <p:sp>
        <p:nvSpPr>
          <p:cNvPr id="12" name="Text 9"/>
          <p:cNvSpPr/>
          <p:nvPr/>
        </p:nvSpPr>
        <p:spPr>
          <a:xfrm>
            <a:off x="5316513" y="1852761"/>
            <a:ext cx="393790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Hookah-focused niche community</a:t>
            </a:r>
            <a:endParaRPr lang="en-US" sz="1440" dirty="0"/>
          </a:p>
        </p:txBody>
      </p:sp>
      <p:sp>
        <p:nvSpPr>
          <p:cNvPr id="13" name="Text 10"/>
          <p:cNvSpPr/>
          <p:nvPr/>
        </p:nvSpPr>
        <p:spPr>
          <a:xfrm>
            <a:off x="457200" y="2349996"/>
            <a:ext cx="1898466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Creator platform</a:t>
            </a:r>
            <a:endParaRPr lang="en-US" sz="1440" dirty="0"/>
          </a:p>
        </p:txBody>
      </p:sp>
      <p:sp>
        <p:nvSpPr>
          <p:cNvPr id="14" name="Text 11"/>
          <p:cNvSpPr/>
          <p:nvPr/>
        </p:nvSpPr>
        <p:spPr>
          <a:xfrm>
            <a:off x="2886819" y="2349996"/>
            <a:ext cx="203390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content,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2886819" y="2560290"/>
            <a:ext cx="1032272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</a:t>
            </a:r>
            <a:endParaRPr lang="en-US" sz="1440" dirty="0"/>
          </a:p>
        </p:txBody>
      </p:sp>
      <p:sp>
        <p:nvSpPr>
          <p:cNvPr id="16" name="Text 13"/>
          <p:cNvSpPr/>
          <p:nvPr/>
        </p:nvSpPr>
        <p:spPr>
          <a:xfrm>
            <a:off x="5316513" y="2349996"/>
            <a:ext cx="3882956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 Buddy tools tied to social</a:t>
            </a:r>
            <a:endParaRPr lang="en-US" sz="1440" dirty="0"/>
          </a:p>
        </p:txBody>
      </p:sp>
      <p:sp>
        <p:nvSpPr>
          <p:cNvPr id="17" name="Text 14"/>
          <p:cNvSpPr/>
          <p:nvPr/>
        </p:nvSpPr>
        <p:spPr>
          <a:xfrm>
            <a:off x="5316513" y="2560290"/>
            <a:ext cx="1153678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</a:t>
            </a:r>
            <a:endParaRPr lang="en-US" sz="1440" dirty="0"/>
          </a:p>
        </p:txBody>
      </p:sp>
      <p:sp>
        <p:nvSpPr>
          <p:cNvPr id="18" name="Text 15"/>
          <p:cNvSpPr/>
          <p:nvPr/>
        </p:nvSpPr>
        <p:spPr>
          <a:xfrm>
            <a:off x="457200" y="2847231"/>
            <a:ext cx="237054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Meetup-style events</a:t>
            </a:r>
            <a:endParaRPr lang="en-US" sz="1440" dirty="0"/>
          </a:p>
        </p:txBody>
      </p:sp>
      <p:sp>
        <p:nvSpPr>
          <p:cNvPr id="19" name="Text 16"/>
          <p:cNvSpPr/>
          <p:nvPr/>
        </p:nvSpPr>
        <p:spPr>
          <a:xfrm>
            <a:off x="2886819" y="2847231"/>
            <a:ext cx="2413501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gatherings and</a:t>
            </a:r>
            <a:endParaRPr lang="en-US" sz="1440" dirty="0"/>
          </a:p>
        </p:txBody>
      </p:sp>
      <p:sp>
        <p:nvSpPr>
          <p:cNvPr id="20" name="Text 17"/>
          <p:cNvSpPr/>
          <p:nvPr/>
        </p:nvSpPr>
        <p:spPr>
          <a:xfrm>
            <a:off x="2886819" y="3057525"/>
            <a:ext cx="80387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RSVPs</a:t>
            </a:r>
            <a:endParaRPr lang="en-US" sz="1440" dirty="0"/>
          </a:p>
        </p:txBody>
      </p:sp>
      <p:sp>
        <p:nvSpPr>
          <p:cNvPr id="21" name="Text 18"/>
          <p:cNvSpPr/>
          <p:nvPr/>
        </p:nvSpPr>
        <p:spPr>
          <a:xfrm>
            <a:off x="5316513" y="2847231"/>
            <a:ext cx="383091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Hookah-first meetups and lounge</a:t>
            </a:r>
            <a:endParaRPr lang="en-US" sz="1440" dirty="0"/>
          </a:p>
        </p:txBody>
      </p:sp>
      <p:sp>
        <p:nvSpPr>
          <p:cNvPr id="22" name="Text 19"/>
          <p:cNvSpPr/>
          <p:nvPr/>
        </p:nvSpPr>
        <p:spPr>
          <a:xfrm>
            <a:off x="5316513" y="3057525"/>
            <a:ext cx="74244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nights</a:t>
            </a:r>
            <a:endParaRPr lang="en-US" sz="1440" dirty="0"/>
          </a:p>
        </p:txBody>
      </p:sp>
      <p:sp>
        <p:nvSpPr>
          <p:cNvPr id="23" name="Text 20"/>
          <p:cNvSpPr/>
          <p:nvPr/>
        </p:nvSpPr>
        <p:spPr>
          <a:xfrm>
            <a:off x="457200" y="3344466"/>
            <a:ext cx="2140796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directory</a:t>
            </a:r>
            <a:endParaRPr lang="en-US" sz="1440" dirty="0"/>
          </a:p>
        </p:txBody>
      </p:sp>
      <p:sp>
        <p:nvSpPr>
          <p:cNvPr id="24" name="Text 21"/>
          <p:cNvSpPr/>
          <p:nvPr/>
        </p:nvSpPr>
        <p:spPr>
          <a:xfrm>
            <a:off x="2886819" y="3344466"/>
            <a:ext cx="182659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discovery</a:t>
            </a:r>
            <a:endParaRPr lang="en-US" sz="1440" dirty="0"/>
          </a:p>
        </p:txBody>
      </p:sp>
      <p:sp>
        <p:nvSpPr>
          <p:cNvPr id="25" name="Text 22"/>
          <p:cNvSpPr/>
          <p:nvPr/>
        </p:nvSpPr>
        <p:spPr>
          <a:xfrm>
            <a:off x="5316513" y="3344466"/>
            <a:ext cx="382046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Pages, Spotlight, offers,</a:t>
            </a:r>
            <a:endParaRPr lang="en-US" sz="1440" dirty="0"/>
          </a:p>
        </p:txBody>
      </p:sp>
      <p:sp>
        <p:nvSpPr>
          <p:cNvPr id="26" name="Text 23"/>
          <p:cNvSpPr/>
          <p:nvPr/>
        </p:nvSpPr>
        <p:spPr>
          <a:xfrm>
            <a:off x="5316513" y="3554760"/>
            <a:ext cx="80000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1440" dirty="0"/>
          </a:p>
        </p:txBody>
      </p:sp>
      <p:sp>
        <p:nvSpPr>
          <p:cNvPr id="27" name="Text 24"/>
          <p:cNvSpPr/>
          <p:nvPr/>
        </p:nvSpPr>
        <p:spPr>
          <a:xfrm>
            <a:off x="457200" y="3841700"/>
            <a:ext cx="2348686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video platform</a:t>
            </a:r>
            <a:endParaRPr lang="en-US" sz="1440" dirty="0"/>
          </a:p>
        </p:txBody>
      </p:sp>
      <p:sp>
        <p:nvSpPr>
          <p:cNvPr id="28" name="Text 25"/>
          <p:cNvSpPr/>
          <p:nvPr/>
        </p:nvSpPr>
        <p:spPr>
          <a:xfrm>
            <a:off x="2886819" y="3841700"/>
            <a:ext cx="197798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Short-form video</a:t>
            </a:r>
            <a:endParaRPr lang="en-US" sz="1440" dirty="0"/>
          </a:p>
        </p:txBody>
      </p:sp>
      <p:sp>
        <p:nvSpPr>
          <p:cNvPr id="29" name="Text 26"/>
          <p:cNvSpPr/>
          <p:nvPr/>
        </p:nvSpPr>
        <p:spPr>
          <a:xfrm>
            <a:off x="5316513" y="3841700"/>
            <a:ext cx="3422868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Sparks for culture and creator</a:t>
            </a:r>
            <a:endParaRPr lang="en-US" sz="1440" dirty="0"/>
          </a:p>
        </p:txBody>
      </p:sp>
      <p:sp>
        <p:nvSpPr>
          <p:cNvPr id="30" name="Text 27"/>
          <p:cNvSpPr/>
          <p:nvPr/>
        </p:nvSpPr>
        <p:spPr>
          <a:xfrm>
            <a:off x="5316513" y="4051995"/>
            <a:ext cx="1153678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</a:t>
            </a:r>
            <a:endParaRPr lang="en-US" sz="1440" dirty="0"/>
          </a:p>
        </p:txBody>
      </p:sp>
      <p:sp>
        <p:nvSpPr>
          <p:cNvPr id="31" name="Text 28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32" name="Text 29"/>
          <p:cNvSpPr/>
          <p:nvPr/>
        </p:nvSpPr>
        <p:spPr>
          <a:xfrm>
            <a:off x="8279978" y="4802609"/>
            <a:ext cx="58601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080" dirty="0"/>
          </a:p>
        </p:txBody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642" y="1817787"/>
            <a:ext cx="2247900" cy="495300"/>
          </a:xfrm>
          <a:prstGeom prst="rect">
            <a:avLst/>
          </a:prstGeom>
        </p:spPr>
      </p:pic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86298" y="1817787"/>
            <a:ext cx="2247900" cy="495300"/>
          </a:xfrm>
          <a:prstGeom prst="rect">
            <a:avLst/>
          </a:prstGeom>
        </p:spPr>
      </p:pic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15731" y="1817787"/>
            <a:ext cx="3371850" cy="495300"/>
          </a:xfrm>
          <a:prstGeom prst="rect">
            <a:avLst/>
          </a:prstGeom>
        </p:spPr>
      </p:pic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6642" y="2315021"/>
            <a:ext cx="2247900" cy="495300"/>
          </a:xfrm>
          <a:prstGeom prst="rect">
            <a:avLst/>
          </a:prstGeom>
        </p:spPr>
      </p:pic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86298" y="2315021"/>
            <a:ext cx="2247900" cy="49530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315731" y="2315021"/>
            <a:ext cx="3371850" cy="495300"/>
          </a:xfrm>
          <a:prstGeom prst="rect">
            <a:avLst/>
          </a:prstGeom>
        </p:spPr>
      </p:pic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56642" y="2812256"/>
            <a:ext cx="2247900" cy="495300"/>
          </a:xfrm>
          <a:prstGeom prst="rect">
            <a:avLst/>
          </a:prstGeom>
        </p:spPr>
      </p:pic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886298" y="2812256"/>
            <a:ext cx="2247900" cy="495300"/>
          </a:xfrm>
          <a:prstGeom prst="rect">
            <a:avLst/>
          </a:prstGeom>
        </p:spPr>
      </p:pic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15731" y="2812256"/>
            <a:ext cx="3371850" cy="495300"/>
          </a:xfrm>
          <a:prstGeom prst="rect">
            <a:avLst/>
          </a:prstGeom>
        </p:spPr>
      </p:pic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6642" y="3309491"/>
            <a:ext cx="2247900" cy="495300"/>
          </a:xfrm>
          <a:prstGeom prst="rect">
            <a:avLst/>
          </a:prstGeom>
        </p:spPr>
      </p:pic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886298" y="3309491"/>
            <a:ext cx="2247900" cy="495300"/>
          </a:xfrm>
          <a:prstGeom prst="rect">
            <a:avLst/>
          </a:prstGeom>
        </p:spPr>
      </p:pic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315731" y="3309491"/>
            <a:ext cx="3371850" cy="495300"/>
          </a:xfrm>
          <a:prstGeom prst="rect">
            <a:avLst/>
          </a:prstGeom>
        </p:spPr>
      </p:pic>
      <p:pic>
        <p:nvPicPr>
          <p:cNvPr id="45" name="Image 13" descr="preencoded.png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56642" y="3806726"/>
            <a:ext cx="2247900" cy="495300"/>
          </a:xfrm>
          <a:prstGeom prst="rect">
            <a:avLst/>
          </a:prstGeom>
        </p:spPr>
      </p:pic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86298" y="3806726"/>
            <a:ext cx="2247900" cy="495300"/>
          </a:xfrm>
          <a:prstGeom prst="rect">
            <a:avLst/>
          </a:prstGeom>
        </p:spPr>
      </p:pic>
      <p:pic>
        <p:nvPicPr>
          <p:cNvPr id="47" name="Image 15" descr="preencoded.png">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5315731" y="3806726"/>
            <a:ext cx="3371850" cy="495300"/>
          </a:xfrm>
          <a:prstGeom prst="rect">
            <a:avLst/>
          </a:prstGeom>
        </p:spPr>
      </p:pic>
      <p:pic>
        <p:nvPicPr>
          <p:cNvPr id="48" name="Image 16" descr="preencoded.png">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26018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DEVELOPMENT STATUS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6834150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Development Is Underway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1137419"/>
            <a:ext cx="5332192" cy="693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31C4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Pre-launch / development-stage</a:t>
            </a:r>
            <a:endParaRPr lang="en-US" sz="2020" dirty="0"/>
          </a:p>
          <a:p>
            <a:pPr algn="l" indent="0" marL="0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31C4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platform.</a:t>
            </a:r>
            <a:endParaRPr lang="en-US" sz="2020" dirty="0"/>
          </a:p>
        </p:txBody>
      </p:sp>
      <p:sp>
        <p:nvSpPr>
          <p:cNvPr id="6" name="Text 3"/>
          <p:cNvSpPr/>
          <p:nvPr/>
        </p:nvSpPr>
        <p:spPr>
          <a:xfrm>
            <a:off x="457200" y="2045494"/>
            <a:ext cx="5076899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profiles, The Lounge, Browse Buddys,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Sparks, Groups, Meetups, Business Pages,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Credits, Creator tools, and Admin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controls.</a:t>
            </a:r>
            <a:endParaRPr lang="en-US" sz="1440" dirty="0"/>
          </a:p>
        </p:txBody>
      </p:sp>
      <p:sp>
        <p:nvSpPr>
          <p:cNvPr id="7" name="Text 4"/>
          <p:cNvSpPr/>
          <p:nvPr/>
        </p:nvSpPr>
        <p:spPr>
          <a:xfrm>
            <a:off x="457200" y="3251076"/>
            <a:ext cx="5278018" cy="3586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and interfaces exist; launch readiness and live</a:t>
            </a:r>
            <a:endParaRPr lang="en-US" sz="1080" dirty="0"/>
          </a:p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payments require validation. No traction claims are presented.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5071393" y="1104900"/>
            <a:ext cx="3614738" cy="2819400"/>
          </a:xfrm>
          <a:prstGeom prst="roundRect">
            <a:avLst>
              <a:gd name="adj" fmla="val 227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276627" y="1305223"/>
            <a:ext cx="315964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before sharing</a:t>
            </a:r>
            <a:endParaRPr lang="en-US" sz="1660" dirty="0"/>
          </a:p>
        </p:txBody>
      </p:sp>
      <p:sp>
        <p:nvSpPr>
          <p:cNvPr id="10" name="Text 7"/>
          <p:cNvSpPr/>
          <p:nvPr/>
        </p:nvSpPr>
        <p:spPr>
          <a:xfrm>
            <a:off x="5276627" y="1684213"/>
            <a:ext cx="2801518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[Insert current App URL]</a:t>
            </a:r>
            <a:endParaRPr lang="en-US" sz="1440" dirty="0"/>
          </a:p>
        </p:txBody>
      </p:sp>
      <p:sp>
        <p:nvSpPr>
          <p:cNvPr id="11" name="Text 8"/>
          <p:cNvSpPr/>
          <p:nvPr/>
        </p:nvSpPr>
        <p:spPr>
          <a:xfrm>
            <a:off x="5276627" y="2052265"/>
            <a:ext cx="3048491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[Insert current build stage]</a:t>
            </a:r>
            <a:endParaRPr lang="en-US" sz="1440" dirty="0"/>
          </a:p>
        </p:txBody>
      </p:sp>
      <p:sp>
        <p:nvSpPr>
          <p:cNvPr id="12" name="Text 9"/>
          <p:cNvSpPr/>
          <p:nvPr/>
        </p:nvSpPr>
        <p:spPr>
          <a:xfrm>
            <a:off x="5276627" y="2420317"/>
            <a:ext cx="337420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[Insert completed feature list]</a:t>
            </a:r>
            <a:endParaRPr lang="en-US" sz="1440" dirty="0"/>
          </a:p>
        </p:txBody>
      </p:sp>
      <p:sp>
        <p:nvSpPr>
          <p:cNvPr id="13" name="Text 10"/>
          <p:cNvSpPr/>
          <p:nvPr/>
        </p:nvSpPr>
        <p:spPr>
          <a:xfrm>
            <a:off x="5276627" y="2788369"/>
            <a:ext cx="2910446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[Insert in-progress items]</a:t>
            </a:r>
            <a:endParaRPr lang="en-US" sz="1440" dirty="0"/>
          </a:p>
        </p:txBody>
      </p:sp>
      <p:sp>
        <p:nvSpPr>
          <p:cNvPr id="14" name="Text 11"/>
          <p:cNvSpPr/>
          <p:nvPr/>
        </p:nvSpPr>
        <p:spPr>
          <a:xfrm>
            <a:off x="5276627" y="3207841"/>
            <a:ext cx="3923973" cy="484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[Insert screenshots: homepage,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Lounge, profile, admin dashboard]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8278862" y="4802609"/>
            <a:ext cx="587469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08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1138974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4550740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Development Roadmap</a:t>
            </a:r>
            <a:endParaRPr lang="en-US" sz="2520" dirty="0"/>
          </a:p>
        </p:txBody>
      </p:sp>
      <p:sp>
        <p:nvSpPr>
          <p:cNvPr id="5" name="Shape 2"/>
          <p:cNvSpPr/>
          <p:nvPr/>
        </p:nvSpPr>
        <p:spPr>
          <a:xfrm>
            <a:off x="457126" y="1103709"/>
            <a:ext cx="2633662" cy="2876550"/>
          </a:xfrm>
          <a:prstGeom prst="roundRect">
            <a:avLst>
              <a:gd name="adj" fmla="val 243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3104" y="1305223"/>
            <a:ext cx="283644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MVP Completion</a:t>
            </a:r>
            <a:endParaRPr lang="en-US" sz="1660" dirty="0"/>
          </a:p>
        </p:txBody>
      </p:sp>
      <p:sp>
        <p:nvSpPr>
          <p:cNvPr id="7" name="Text 4"/>
          <p:cNvSpPr/>
          <p:nvPr/>
        </p:nvSpPr>
        <p:spPr>
          <a:xfrm>
            <a:off x="663104" y="1684213"/>
            <a:ext cx="2929600" cy="1545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profiles · Buddy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· The Lounge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Browse Buddys · Sparks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Admin dashboard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Credits and plans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Creator content</a:t>
            </a:r>
            <a:endParaRPr lang="en-US" sz="1440" dirty="0"/>
          </a:p>
        </p:txBody>
      </p:sp>
      <p:sp>
        <p:nvSpPr>
          <p:cNvPr id="8" name="Shape 5"/>
          <p:cNvSpPr/>
          <p:nvPr/>
        </p:nvSpPr>
        <p:spPr>
          <a:xfrm>
            <a:off x="3255169" y="1103709"/>
            <a:ext cx="2633662" cy="2876550"/>
          </a:xfrm>
          <a:prstGeom prst="roundRect">
            <a:avLst>
              <a:gd name="adj" fmla="val 243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61147" y="1305223"/>
            <a:ext cx="240634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Monetization</a:t>
            </a:r>
            <a:endParaRPr lang="en-US" sz="1660" dirty="0"/>
          </a:p>
        </p:txBody>
      </p:sp>
      <p:sp>
        <p:nvSpPr>
          <p:cNvPr id="10" name="Text 7"/>
          <p:cNvSpPr/>
          <p:nvPr/>
        </p:nvSpPr>
        <p:spPr>
          <a:xfrm>
            <a:off x="3461147" y="1557561"/>
            <a:ext cx="238370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Local Growth</a:t>
            </a:r>
            <a:endParaRPr lang="en-US" sz="1660" dirty="0"/>
          </a:p>
        </p:txBody>
      </p:sp>
      <p:sp>
        <p:nvSpPr>
          <p:cNvPr id="11" name="Text 8"/>
          <p:cNvSpPr/>
          <p:nvPr/>
        </p:nvSpPr>
        <p:spPr>
          <a:xfrm>
            <a:off x="3461147" y="1936552"/>
            <a:ext cx="2861012" cy="1545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 Buddy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subscriptions · Albums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requests · Video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 · Business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Pages · Lounge Spotlight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Meetups and Events</a:t>
            </a:r>
            <a:endParaRPr lang="en-US" sz="1440" dirty="0"/>
          </a:p>
        </p:txBody>
      </p:sp>
      <p:sp>
        <p:nvSpPr>
          <p:cNvPr id="12" name="Shape 9"/>
          <p:cNvSpPr/>
          <p:nvPr/>
        </p:nvSpPr>
        <p:spPr>
          <a:xfrm>
            <a:off x="6053212" y="1103709"/>
            <a:ext cx="2633662" cy="2876550"/>
          </a:xfrm>
          <a:prstGeom prst="roundRect">
            <a:avLst>
              <a:gd name="adj" fmla="val 2430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59190" y="1305223"/>
            <a:ext cx="195776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Scale and</a:t>
            </a:r>
            <a:endParaRPr lang="en-US" sz="1660" dirty="0"/>
          </a:p>
        </p:txBody>
      </p:sp>
      <p:sp>
        <p:nvSpPr>
          <p:cNvPr id="14" name="Text 11"/>
          <p:cNvSpPr/>
          <p:nvPr/>
        </p:nvSpPr>
        <p:spPr>
          <a:xfrm>
            <a:off x="6259190" y="1557561"/>
            <a:ext cx="177348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Partnerships</a:t>
            </a:r>
            <a:endParaRPr lang="en-US" sz="1660" dirty="0"/>
          </a:p>
        </p:txBody>
      </p:sp>
      <p:sp>
        <p:nvSpPr>
          <p:cNvPr id="15" name="Text 12"/>
          <p:cNvSpPr/>
          <p:nvPr/>
        </p:nvSpPr>
        <p:spPr>
          <a:xfrm>
            <a:off x="6259190" y="1936552"/>
            <a:ext cx="2840310" cy="181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 readiness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Advertising · Sponsored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placements · Lounge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partnerships · Analytics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Payment/payout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· Growth and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</a:t>
            </a:r>
            <a:endParaRPr lang="en-US" sz="1440" dirty="0"/>
          </a:p>
        </p:txBody>
      </p:sp>
      <p:sp>
        <p:nvSpPr>
          <p:cNvPr id="16" name="Text 13"/>
          <p:cNvSpPr/>
          <p:nvPr/>
        </p:nvSpPr>
        <p:spPr>
          <a:xfrm>
            <a:off x="457200" y="4143673"/>
            <a:ext cx="897854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1215"/>
              </a:spcBef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Development priorities, not dated commitments. Some capabilities already have working implementations.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18" name="Text 15"/>
          <p:cNvSpPr/>
          <p:nvPr/>
        </p:nvSpPr>
        <p:spPr>
          <a:xfrm>
            <a:off x="8274993" y="4802609"/>
            <a:ext cx="5925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08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16895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OF FUNDS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9358632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Funding Will Accelerate Continued Development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1156469"/>
            <a:ext cx="5279663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1215"/>
              </a:spcAft>
              <a:buNone/>
            </a:pPr>
            <a:r>
              <a:rPr lang="en-US" sz="288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[Insert funding target]</a:t>
            </a:r>
            <a:endParaRPr lang="en-US" sz="2880" dirty="0"/>
          </a:p>
        </p:txBody>
      </p:sp>
      <p:sp>
        <p:nvSpPr>
          <p:cNvPr id="6" name="Shape 3"/>
          <p:cNvSpPr/>
          <p:nvPr/>
        </p:nvSpPr>
        <p:spPr>
          <a:xfrm>
            <a:off x="457126" y="1808076"/>
            <a:ext cx="2633662" cy="2090737"/>
          </a:xfrm>
          <a:prstGeom prst="roundRect">
            <a:avLst>
              <a:gd name="adj" fmla="val 3062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3104" y="2008063"/>
            <a:ext cx="72880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5E9F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</a:t>
            </a:r>
            <a:endParaRPr lang="en-US" sz="1660" dirty="0"/>
          </a:p>
        </p:txBody>
      </p:sp>
      <p:sp>
        <p:nvSpPr>
          <p:cNvPr id="8" name="Text 5"/>
          <p:cNvSpPr/>
          <p:nvPr/>
        </p:nvSpPr>
        <p:spPr>
          <a:xfrm>
            <a:off x="663104" y="2387054"/>
            <a:ext cx="2596433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development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UI/UX design · Mobile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· Creator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440" dirty="0"/>
          </a:p>
        </p:txBody>
      </p:sp>
      <p:sp>
        <p:nvSpPr>
          <p:cNvPr id="9" name="Shape 6"/>
          <p:cNvSpPr/>
          <p:nvPr/>
        </p:nvSpPr>
        <p:spPr>
          <a:xfrm>
            <a:off x="3255169" y="1808076"/>
            <a:ext cx="2633662" cy="2090737"/>
          </a:xfrm>
          <a:prstGeom prst="roundRect">
            <a:avLst>
              <a:gd name="adj" fmla="val 3062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61147" y="2008063"/>
            <a:ext cx="103014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E85D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Harden</a:t>
            </a:r>
            <a:endParaRPr lang="en-US" sz="1660" dirty="0"/>
          </a:p>
        </p:txBody>
      </p:sp>
      <p:sp>
        <p:nvSpPr>
          <p:cNvPr id="11" name="Text 8"/>
          <p:cNvSpPr/>
          <p:nvPr/>
        </p:nvSpPr>
        <p:spPr>
          <a:xfrm>
            <a:off x="3461147" y="2387054"/>
            <a:ext cx="2838472" cy="101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Payment/credit system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infrastructure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Admin/moderation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Security and compliance</a:t>
            </a:r>
            <a:endParaRPr lang="en-US" sz="1440" dirty="0"/>
          </a:p>
        </p:txBody>
      </p:sp>
      <p:sp>
        <p:nvSpPr>
          <p:cNvPr id="12" name="Shape 9"/>
          <p:cNvSpPr/>
          <p:nvPr/>
        </p:nvSpPr>
        <p:spPr>
          <a:xfrm>
            <a:off x="6053212" y="1808076"/>
            <a:ext cx="2633662" cy="2090737"/>
          </a:xfrm>
          <a:prstGeom prst="roundRect">
            <a:avLst>
              <a:gd name="adj" fmla="val 3062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59190" y="2008063"/>
            <a:ext cx="104194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</a:t>
            </a:r>
            <a:endParaRPr lang="en-US" sz="1660" dirty="0"/>
          </a:p>
        </p:txBody>
      </p:sp>
      <p:sp>
        <p:nvSpPr>
          <p:cNvPr id="14" name="Text 11"/>
          <p:cNvSpPr/>
          <p:nvPr/>
        </p:nvSpPr>
        <p:spPr>
          <a:xfrm>
            <a:off x="6259190" y="2387054"/>
            <a:ext cx="2637063" cy="1279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and user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acquisition ·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Business/lounges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· Legal and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setup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457200" y="4063752"/>
            <a:ext cx="10610523" cy="3586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 funding will be used to complete the MVP, harden the platform, support launch, onboard early users and businesses,</a:t>
            </a:r>
            <a:endParaRPr lang="en-US" sz="1080" dirty="0"/>
          </a:p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accelerate monetization features.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8282211" y="4802609"/>
            <a:ext cx="583116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08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0478"/>
            <a:ext cx="313903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080" spc="162" kern="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INVESTMENT OPPORTUNITY</a:t>
            </a:r>
            <a:endParaRPr lang="en-US" sz="1080" dirty="0"/>
          </a:p>
        </p:txBody>
      </p:sp>
      <p:sp>
        <p:nvSpPr>
          <p:cNvPr id="4" name="Text 1"/>
          <p:cNvSpPr/>
          <p:nvPr/>
        </p:nvSpPr>
        <p:spPr>
          <a:xfrm>
            <a:off x="457200" y="525661"/>
            <a:ext cx="5595223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Opportunity to Help Build the</a:t>
            </a:r>
            <a:endParaRPr lang="en-US" sz="2520" dirty="0"/>
          </a:p>
        </p:txBody>
      </p:sp>
      <p:sp>
        <p:nvSpPr>
          <p:cNvPr id="5" name="Text 2"/>
          <p:cNvSpPr/>
          <p:nvPr/>
        </p:nvSpPr>
        <p:spPr>
          <a:xfrm>
            <a:off x="457200" y="884113"/>
            <a:ext cx="6656926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20" b="1" spc="-88" kern="0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Platform for Hookah Culture</a:t>
            </a:r>
            <a:endParaRPr lang="en-US" sz="2520" dirty="0"/>
          </a:p>
        </p:txBody>
      </p:sp>
      <p:sp>
        <p:nvSpPr>
          <p:cNvPr id="6" name="Text 3"/>
          <p:cNvSpPr/>
          <p:nvPr/>
        </p:nvSpPr>
        <p:spPr>
          <a:xfrm>
            <a:off x="457200" y="1481584"/>
            <a:ext cx="5477009" cy="1365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2"/>
              </a:lnSpc>
              <a:buNone/>
            </a:pPr>
            <a:r>
              <a:rPr lang="en-US" sz="202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Seeking strategic investors to help</a:t>
            </a:r>
            <a:endParaRPr lang="en-US" sz="2020" dirty="0"/>
          </a:p>
          <a:p>
            <a:pPr algn="l" indent="0" marL="0">
              <a:lnSpc>
                <a:spcPts val="2772"/>
              </a:lnSpc>
              <a:buNone/>
            </a:pPr>
            <a:r>
              <a:rPr lang="en-US" sz="202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 continued development,</a:t>
            </a:r>
            <a:endParaRPr lang="en-US" sz="2020" dirty="0"/>
          </a:p>
          <a:p>
            <a:pPr algn="l" indent="0" marL="0">
              <a:lnSpc>
                <a:spcPts val="2772"/>
              </a:lnSpc>
              <a:buNone/>
            </a:pPr>
            <a:r>
              <a:rPr lang="en-US" sz="202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preparation, and early</a:t>
            </a:r>
            <a:endParaRPr lang="en-US" sz="2020" dirty="0"/>
          </a:p>
          <a:p>
            <a:pPr algn="l" indent="0" marL="0">
              <a:lnSpc>
                <a:spcPts val="2772"/>
              </a:lnSpc>
              <a:buNone/>
            </a:pPr>
            <a:r>
              <a:rPr lang="en-US" sz="2020" dirty="0">
                <a:solidFill>
                  <a:srgbClr val="D6B5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growth.</a:t>
            </a:r>
            <a:endParaRPr lang="en-US" sz="2020" dirty="0"/>
          </a:p>
        </p:txBody>
      </p:sp>
      <p:sp>
        <p:nvSpPr>
          <p:cNvPr id="7" name="Text 4"/>
          <p:cNvSpPr/>
          <p:nvPr/>
        </p:nvSpPr>
        <p:spPr>
          <a:xfrm>
            <a:off x="457200" y="3044056"/>
            <a:ext cx="5448568" cy="74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social adoption · Premium access · Creator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· Local business opportunities · Real-world</a:t>
            </a:r>
            <a:endParaRPr lang="en-US" sz="1440" dirty="0"/>
          </a:p>
          <a:p>
            <a:pPr algn="l" indent="0" marL="0">
              <a:lnSpc>
                <a:spcPts val="2088"/>
              </a:lnSpc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</a:t>
            </a:r>
            <a:endParaRPr lang="en-US" sz="1440" dirty="0"/>
          </a:p>
        </p:txBody>
      </p:sp>
      <p:sp>
        <p:nvSpPr>
          <p:cNvPr id="8" name="Shape 5"/>
          <p:cNvSpPr/>
          <p:nvPr/>
        </p:nvSpPr>
        <p:spPr>
          <a:xfrm>
            <a:off x="5191423" y="1462869"/>
            <a:ext cx="3495675" cy="2357438"/>
          </a:xfrm>
          <a:prstGeom prst="roundRect">
            <a:avLst>
              <a:gd name="adj" fmla="val 2715"/>
            </a:avLst>
          </a:prstGeom>
          <a:solidFill>
            <a:srgbClr val="1F232B"/>
          </a:solidFill>
          <a:ln w="4763">
            <a:solidFill>
              <a:srgbClr val="343A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97624" y="1663675"/>
            <a:ext cx="148916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Aft>
                <a:spcPts val="810"/>
              </a:spcAft>
              <a:buNone/>
            </a:pPr>
            <a:r>
              <a:rPr lang="en-US" sz="1660" b="1" dirty="0">
                <a:solidFill>
                  <a:srgbClr val="F5F7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steps</a:t>
            </a:r>
            <a:endParaRPr lang="en-US" sz="1660" dirty="0"/>
          </a:p>
        </p:txBody>
      </p:sp>
      <p:sp>
        <p:nvSpPr>
          <p:cNvPr id="10" name="Text 7"/>
          <p:cNvSpPr/>
          <p:nvPr/>
        </p:nvSpPr>
        <p:spPr>
          <a:xfrm>
            <a:off x="5397624" y="2042666"/>
            <a:ext cx="356294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Founder: [Insert founder name]</a:t>
            </a:r>
            <a:endParaRPr lang="en-US" sz="1440" dirty="0"/>
          </a:p>
        </p:txBody>
      </p:sp>
      <p:sp>
        <p:nvSpPr>
          <p:cNvPr id="11" name="Text 8"/>
          <p:cNvSpPr/>
          <p:nvPr/>
        </p:nvSpPr>
        <p:spPr>
          <a:xfrm>
            <a:off x="5397624" y="2410718"/>
            <a:ext cx="226703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Email: [Insert email]</a:t>
            </a:r>
            <a:endParaRPr lang="en-US" sz="1440" dirty="0"/>
          </a:p>
        </p:txBody>
      </p:sp>
      <p:sp>
        <p:nvSpPr>
          <p:cNvPr id="12" name="Text 9"/>
          <p:cNvSpPr/>
          <p:nvPr/>
        </p:nvSpPr>
        <p:spPr>
          <a:xfrm>
            <a:off x="5397624" y="2778770"/>
            <a:ext cx="249079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Phone: [Insert phone]</a:t>
            </a:r>
            <a:endParaRPr lang="en-US" sz="1440" dirty="0"/>
          </a:p>
        </p:txBody>
      </p:sp>
      <p:sp>
        <p:nvSpPr>
          <p:cNvPr id="13" name="Text 10"/>
          <p:cNvSpPr/>
          <p:nvPr/>
        </p:nvSpPr>
        <p:spPr>
          <a:xfrm>
            <a:off x="5397624" y="3146822"/>
            <a:ext cx="297439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spcBef>
                <a:spcPts val="810"/>
              </a:spcBef>
              <a:buNone/>
            </a:pPr>
            <a:r>
              <a:rPr lang="en-US" sz="144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Website/App: [Insert URL]</a:t>
            </a:r>
            <a:endParaRPr lang="en-US" sz="1440" dirty="0"/>
          </a:p>
        </p:txBody>
      </p:sp>
      <p:sp>
        <p:nvSpPr>
          <p:cNvPr id="14" name="Text 11"/>
          <p:cNvSpPr/>
          <p:nvPr/>
        </p:nvSpPr>
        <p:spPr>
          <a:xfrm>
            <a:off x="457200" y="4035847"/>
            <a:ext cx="10387734" cy="3586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presentation is for discussion purposes only and does not constitute an offer to sell securities. Financial projections, if</a:t>
            </a:r>
            <a:endParaRPr lang="en-US" sz="1080" dirty="0"/>
          </a:p>
          <a:p>
            <a:pPr algn="l" indent="0" marL="0">
              <a:lnSpc>
                <a:spcPts val="1512"/>
              </a:lnSpc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added, should be reviewed with legal and financial advisors.</a:t>
            </a:r>
            <a:endParaRPr lang="en-US" sz="1080" dirty="0"/>
          </a:p>
        </p:txBody>
      </p:sp>
      <p:sp>
        <p:nvSpPr>
          <p:cNvPr id="15" name="Text 12"/>
          <p:cNvSpPr/>
          <p:nvPr/>
        </p:nvSpPr>
        <p:spPr>
          <a:xfrm>
            <a:off x="457200" y="4802609"/>
            <a:ext cx="312365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HookahBuddys · Investor Pitch Deck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8278564" y="4802609"/>
            <a:ext cx="587856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CB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08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702597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2026-09-24T05:49:20Z</dcterms:created>
  <dcterms:modified xsi:type="dcterms:W3CDTF">2026-09-24T05:49:20Z</dcterms:modified>
</cp:coreProperties>
</file>